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2430"/>
                </a:solidFill>
                <a:latin typeface="+mn-lt"/>
              </a:rPr>
              <a:t>Líneas por fichero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Líneas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styles.css (+82)</c:v>
                </c:pt>
                <c:pt idx="1">
                  <c:v>script.js (+49)</c:v>
                </c:pt>
                <c:pt idx="2">
                  <c:v>DESIGN.md (+10)</c:v>
                </c:pt>
                <c:pt idx="3">
                  <c:v>index.html (+20)</c:v>
                </c:pt>
                <c:pt idx="4">
                  <c:v>data/elements.js (0)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1038</c:v>
                </c:pt>
                <c:pt idx="1">
                  <c:v>333</c:v>
                </c:pt>
                <c:pt idx="2">
                  <c:v>219</c:v>
                </c:pt>
                <c:pt idx="3">
                  <c:v>132</c:v>
                </c:pt>
                <c:pt idx="4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Presentación didáctica sobre el flujo SDD de 9 pasos, aplicado a un segundo change sobre el proyecto Tabla Periódica: add-dark-mode-toggle. Tres bloques: el marco, el caso y la técnica de la presentación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bloques: marco teórico, caso aplicado (modo oscuro como evolución del build original), y el detalle técnico de la presentación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entendemos las reglas del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son tres procesos independientes: son tres vistas del mismo cambio. Lifecycle dice qué hacemos, controles bajo qué reglas, gates qué evidencia hace falta para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responde una pregunta distinta y termina con una señal de salida. Ideation es opcional (asterisco en el framework).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artefactos no son documentación posterior: son la evidencia que madura a lo largo del ciclo. Proposal es un punto de control, no un paso numerado.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gobernanza se hereda del build original. Novedad: la persistencia, antes fuera de alcance, se admite solo para el tema, y todo color debe ser un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Aplicamos el marco a una evolución: añadir modo oscuro a la tabla periódica ya construida y archivada.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reduce la incertidumbre antes de explorar soluciones. Es un cambio incremental que demuestra OpenSpec sobre un proyecto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 exploran alternativas. Decisiones: data-theme en la raíz y script síncrono en head. Además se eligió localStorage frente a cookies y un botón con aria-pressed frente a role=switch.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propuesta se generó con /opsx:propose. La spec es un delta que solo añade tres requisitos; sigue pendiente la inconsistencia heredada de 14 vs 15 elementos por serie.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colores ya eran tokens, así que el tema oscuro es redefinir valores. El script de head y script.js comparten lógica a propósito para evitar el parpadeo.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grupo se enlaza con un requisito del delta. 10 de 11 tareas están marcadas; la 4.3 queda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Líneas finales por fichero con el delta respecto al build (index 112→132, styles 956→1038, script 284→333, DESIGN 209→219). styles.css y script.js siguen creciendo sobre el aviso de mantenimiento.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hay informe de QA específico del dark mode: la tabla refleja el código y el estado de tasks.md, no resultados medidos. Por eso hay filas marcadas sin evidencia adjunta.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release sigue pendiente de confirmar. El change se archivó con /opsx:archive el 2026-10-27, pero con la tarea 4.3 abierta: conviene completarla o registrarla como deuda.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propia presentación aplica los mismos principios: sin dependencias, funciona offline y es accesible.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slide es una section posicionada de forma absoluta. Solo la clase active es visible, con transición de opacity y transform. El estado se reduce al índice cur.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colores son tokens en :root. El tema oscuro se activa por preferencia del sistema o por el botón; data-theme tiene prioridad. El coste es duplicar los tokens oscuros en dos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diagramas se generan desde datos JS y se insertan como SVG inline con role=img. Los componentes interactivos usan botones nativos y regiones aria-live.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Cerramos con lo conseguido, la deuda abierta y la acción recomendada: completar la verificación manual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Spec Driven Development en 9 pasos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Caso práctico: añadir el modo oscuro a la tabla periódica con OpenSpec, y cómo está construida la presentación que lo explica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Qué vamos a ver</a:t>
            </a:r>
            <a:endParaRPr lang="en-US" sz="3600" dirty="0"/>
          </a:p>
        </p:txBody>
      </p:sp>
      <p:sp>
        <p:nvSpPr>
          <p:cNvPr id="4" name="agenda 0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El marco SDD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Tres dimensiones, nueve pasos, señales de salida y gobernanza.</a:t>
            </a:r>
            <a:endParaRPr lang="en-US" sz="1600" dirty="0"/>
          </a:p>
        </p:txBody>
      </p:sp>
      <p:sp>
        <p:nvSpPr>
          <p:cNvPr id="8" name="agenda 02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7200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El caso: Modo oscuro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 change incremental sobre un producto ya archivado, paso a paso.</a:t>
            </a:r>
            <a:endParaRPr lang="en-US" sz="1600" dirty="0"/>
          </a:p>
        </p:txBody>
      </p:sp>
      <p:sp>
        <p:nvSpPr>
          <p:cNvPr id="12" name="agenda 03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2564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 presentación HTML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3931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Cómo está hecha: JS vanilla, temas, SVG y accesibilidad.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Parte 1 · El marco SDD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Lifecycle, controles continuos y quality gates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Tres dimensiones simultáneas</a:t>
            </a:r>
            <a:endParaRPr lang="en-US" sz="3600" dirty="0"/>
          </a:p>
        </p:txBody>
      </p:sp>
      <p:sp>
        <p:nvSpPr>
          <p:cNvPr id="4" name="dimension Lifecycle"/>
          <p:cNvSpPr/>
          <p:nvPr/>
        </p:nvSpPr>
        <p:spPr>
          <a:xfrm>
            <a:off x="548640" y="1463040"/>
            <a:ext cx="3566160" cy="4114800"/>
          </a:xfrm>
          <a:prstGeom prst="roundRect">
            <a:avLst>
              <a:gd name="adj" fmla="val 2564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number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Lifecycle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¿Qué trabajo hacemos?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secuencia de trabajo y decisiones: Discovery → Ideation → Specify → Design → Plan → Implement → Verify → Release → Archive.</a:t>
            </a:r>
            <a:endParaRPr lang="en-US" sz="1500" dirty="0"/>
          </a:p>
        </p:txBody>
      </p:sp>
      <p:sp>
        <p:nvSpPr>
          <p:cNvPr id="10" name="dimension Continuous Controls"/>
          <p:cNvSpPr/>
          <p:nvPr/>
        </p:nvSpPr>
        <p:spPr>
          <a:xfrm>
            <a:off x="4297680" y="1463040"/>
            <a:ext cx="3566160" cy="4114800"/>
          </a:xfrm>
          <a:prstGeom prst="roundRect">
            <a:avLst>
              <a:gd name="adj" fmla="val 2564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number circle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Continuous Controls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¿Bajo qué reglas?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31089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Principios, políticas, estándares y restricciones que operan durante todo el ciclo (la gobernanza).</a:t>
            </a:r>
            <a:endParaRPr lang="en-US" sz="1500" dirty="0"/>
          </a:p>
        </p:txBody>
      </p:sp>
      <p:sp>
        <p:nvSpPr>
          <p:cNvPr id="16" name="dimension Quality Gates"/>
          <p:cNvSpPr/>
          <p:nvPr/>
        </p:nvSpPr>
        <p:spPr>
          <a:xfrm>
            <a:off x="8046720" y="1463040"/>
            <a:ext cx="3566160" cy="4114800"/>
          </a:xfrm>
          <a:prstGeom prst="roundRect">
            <a:avLst>
              <a:gd name="adj" fmla="val 2564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number circle"/>
          <p:cNvSpPr/>
          <p:nvPr/>
        </p:nvSpPr>
        <p:spPr>
          <a:xfrm>
            <a:off x="8275320" y="16916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Quality Gates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¿Qué evidencia necesitamos?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1089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Antes de avanzar hay que demostrar algo: cada paso termina con una señal de salida verificable.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Lifecycle dice qué hacemos · Controles dicen bajo qué reglas · Gates dicen qué debemos demostrar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Los 9 pasos y su pregunta guía</a:t>
            </a:r>
            <a:endParaRPr lang="en-US" sz="3600" dirty="0"/>
          </a:p>
        </p:txBody>
      </p:sp>
      <p:sp>
        <p:nvSpPr>
          <p:cNvPr id="4" name="step 1 · Discovery"/>
          <p:cNvSpPr/>
          <p:nvPr/>
        </p:nvSpPr>
        <p:spPr>
          <a:xfrm>
            <a:off x="548640" y="137160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1 · Discovery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problema resolvemos y por qué importa?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DISCOVERY READY</a:t>
            </a:r>
            <a:endParaRPr lang="en-US" sz="1200" dirty="0"/>
          </a:p>
        </p:txBody>
      </p:sp>
      <p:sp>
        <p:nvSpPr>
          <p:cNvPr id="8" name="step 2 · Ideation *"/>
          <p:cNvSpPr/>
          <p:nvPr/>
        </p:nvSpPr>
        <p:spPr>
          <a:xfrm>
            <a:off x="4297680" y="137160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8056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2 · Ideation *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podríamos hacer al respecto?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SOLUTION DIRECTION READY</a:t>
            </a:r>
            <a:endParaRPr lang="en-US" sz="1200" dirty="0"/>
          </a:p>
        </p:txBody>
      </p:sp>
      <p:sp>
        <p:nvSpPr>
          <p:cNvPr id="12" name="step 3 · Specification"/>
          <p:cNvSpPr/>
          <p:nvPr/>
        </p:nvSpPr>
        <p:spPr>
          <a:xfrm>
            <a:off x="8046720" y="137160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 · Specification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1828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debe hacer exactamente el sistema?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SPEC READY</a:t>
            </a:r>
            <a:endParaRPr lang="en-US" sz="1200" dirty="0"/>
          </a:p>
        </p:txBody>
      </p:sp>
      <p:sp>
        <p:nvSpPr>
          <p:cNvPr id="16" name="step 4 · Design"/>
          <p:cNvSpPr/>
          <p:nvPr/>
        </p:nvSpPr>
        <p:spPr>
          <a:xfrm>
            <a:off x="54864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 · Design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¿Cómo satisfará el sistema la spec?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DESIGN READY</a:t>
            </a:r>
            <a:endParaRPr lang="en-US" sz="1200" dirty="0"/>
          </a:p>
        </p:txBody>
      </p:sp>
      <p:sp>
        <p:nvSpPr>
          <p:cNvPr id="20" name="step 5 · Tasks / Planning"/>
          <p:cNvSpPr/>
          <p:nvPr/>
        </p:nvSpPr>
        <p:spPr>
          <a:xfrm>
            <a:off x="429768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5 · Tasks / Planning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trabajo, en qué orden y cómo se demuestra?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READY</a:t>
            </a:r>
            <a:endParaRPr lang="en-US" sz="1200" dirty="0"/>
          </a:p>
        </p:txBody>
      </p:sp>
      <p:sp>
        <p:nvSpPr>
          <p:cNvPr id="24" name="step 6 · Implement"/>
          <p:cNvSpPr/>
          <p:nvPr/>
        </p:nvSpPr>
        <p:spPr>
          <a:xfrm>
            <a:off x="8046720" y="301752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6 · Implement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¿Ejecutamos sin redefinir la intención?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COMPLETE</a:t>
            </a:r>
            <a:endParaRPr lang="en-US" sz="1200" dirty="0"/>
          </a:p>
        </p:txBody>
      </p:sp>
      <p:sp>
        <p:nvSpPr>
          <p:cNvPr id="28" name="step 7 · Verify &amp; Validate"/>
          <p:cNvSpPr/>
          <p:nvPr/>
        </p:nvSpPr>
        <p:spPr>
          <a:xfrm>
            <a:off x="548640" y="466344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7 · Verify &amp; Validate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¿Lo construimos bien? ¿Sirve para su propósito?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RELEASE READY</a:t>
            </a:r>
            <a:endParaRPr lang="en-US" sz="1200" dirty="0"/>
          </a:p>
        </p:txBody>
      </p:sp>
      <p:sp>
        <p:nvSpPr>
          <p:cNvPr id="32" name="step 8 · Release &amp; Operate"/>
          <p:cNvSpPr/>
          <p:nvPr/>
        </p:nvSpPr>
        <p:spPr>
          <a:xfrm>
            <a:off x="4297680" y="466344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8056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8 · Release &amp; Operate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0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¿Opera de forma segura y estable?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48056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RELEASE STABLE</a:t>
            </a:r>
            <a:endParaRPr lang="en-US" sz="1200" dirty="0"/>
          </a:p>
        </p:txBody>
      </p:sp>
      <p:sp>
        <p:nvSpPr>
          <p:cNvPr id="36" name="step 9 · Archive &amp; Learn"/>
          <p:cNvSpPr/>
          <p:nvPr/>
        </p:nvSpPr>
        <p:spPr>
          <a:xfrm>
            <a:off x="8046720" y="466344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9 · Archive &amp; Learn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5120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¿Qué conservamos, aprendemos y mejoramos?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22960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CHANGE CLOSED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Artefactos y quality gates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12064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Artefacto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Señal de salida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Discovery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discovery.md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DISCOVERY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Ideation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ideation.md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SOLUTION DIRECTION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Proposal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proposal.md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PROPOSAL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Specification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 Design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design.md + ADRs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DESIGN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 Tasks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tasks.md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IMPLEMENTATION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 Implement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evidencia de implementación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IMPLEMENTATION COMPLETE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 Verify &amp; Validate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verification-report, validation-report, evals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 READY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 Release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release.md, release-evidence.md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 STABLE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 Archive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closure, retrospective, lessons-learned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 CLOSED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Governance Foundation: reglas transversales</a:t>
            </a:r>
            <a:endParaRPr lang="en-US" sz="3600" dirty="0"/>
          </a:p>
        </p:txBody>
      </p:sp>
      <p:sp>
        <p:nvSpPr>
          <p:cNvPr id="4" name="governance frame"/>
          <p:cNvSpPr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accent1">
              <a:alpha val="6000"/>
            </a:schemeClr>
          </a:solidFill>
          <a:ln w="15875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Governance Foundation (aplica a los 9 pasos)</a:t>
            </a:r>
            <a:endParaRPr lang="en-US" sz="1800" dirty="0"/>
          </a:p>
        </p:txBody>
      </p:sp>
      <p:sp>
        <p:nvSpPr>
          <p:cNvPr id="6" name="step box Discovery"/>
          <p:cNvSpPr/>
          <p:nvPr/>
        </p:nvSpPr>
        <p:spPr>
          <a:xfrm>
            <a:off x="822960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Discovery</a:t>
            </a:r>
            <a:endParaRPr lang="en-US" sz="1400" dirty="0"/>
          </a:p>
        </p:txBody>
      </p:sp>
      <p:sp>
        <p:nvSpPr>
          <p:cNvPr id="8" name="step box Ideation"/>
          <p:cNvSpPr/>
          <p:nvPr/>
        </p:nvSpPr>
        <p:spPr>
          <a:xfrm>
            <a:off x="1993392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993392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Ideation</a:t>
            </a:r>
            <a:endParaRPr lang="en-US" sz="1400" dirty="0"/>
          </a:p>
        </p:txBody>
      </p:sp>
      <p:sp>
        <p:nvSpPr>
          <p:cNvPr id="10" name="step box Spec"/>
          <p:cNvSpPr/>
          <p:nvPr/>
        </p:nvSpPr>
        <p:spPr>
          <a:xfrm>
            <a:off x="3163824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163824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</a:t>
            </a:r>
            <a:endParaRPr lang="en-US" sz="1400" dirty="0"/>
          </a:p>
        </p:txBody>
      </p:sp>
      <p:sp>
        <p:nvSpPr>
          <p:cNvPr id="12" name="step box Design"/>
          <p:cNvSpPr/>
          <p:nvPr/>
        </p:nvSpPr>
        <p:spPr>
          <a:xfrm>
            <a:off x="4334256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334256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</a:t>
            </a:r>
            <a:endParaRPr lang="en-US" sz="1400" dirty="0"/>
          </a:p>
        </p:txBody>
      </p:sp>
      <p:sp>
        <p:nvSpPr>
          <p:cNvPr id="14" name="step box Tasks"/>
          <p:cNvSpPr/>
          <p:nvPr/>
        </p:nvSpPr>
        <p:spPr>
          <a:xfrm>
            <a:off x="5504688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504688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</a:t>
            </a:r>
            <a:endParaRPr lang="en-US" sz="1400" dirty="0"/>
          </a:p>
        </p:txBody>
      </p:sp>
      <p:sp>
        <p:nvSpPr>
          <p:cNvPr id="16" name="step box Implement"/>
          <p:cNvSpPr/>
          <p:nvPr/>
        </p:nvSpPr>
        <p:spPr>
          <a:xfrm>
            <a:off x="6675120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675120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</a:t>
            </a:r>
            <a:endParaRPr lang="en-US" sz="1400" dirty="0"/>
          </a:p>
        </p:txBody>
      </p:sp>
      <p:sp>
        <p:nvSpPr>
          <p:cNvPr id="18" name="step box Verify"/>
          <p:cNvSpPr/>
          <p:nvPr/>
        </p:nvSpPr>
        <p:spPr>
          <a:xfrm>
            <a:off x="7845552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845552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</a:t>
            </a:r>
            <a:endParaRPr lang="en-US" sz="1400" dirty="0"/>
          </a:p>
        </p:txBody>
      </p:sp>
      <p:sp>
        <p:nvSpPr>
          <p:cNvPr id="20" name="step box Release"/>
          <p:cNvSpPr/>
          <p:nvPr/>
        </p:nvSpPr>
        <p:spPr>
          <a:xfrm>
            <a:off x="9015984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9015984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Release</a:t>
            </a:r>
            <a:endParaRPr lang="en-US" sz="1400" dirty="0"/>
          </a:p>
        </p:txBody>
      </p:sp>
      <p:sp>
        <p:nvSpPr>
          <p:cNvPr id="22" name="step box Archive"/>
          <p:cNvSpPr/>
          <p:nvPr/>
        </p:nvSpPr>
        <p:spPr>
          <a:xfrm>
            <a:off x="10186416" y="2011680"/>
            <a:ext cx="109728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10186416" y="2057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Archive</a:t>
            </a:r>
            <a:endParaRPr lang="en-US" sz="1400" dirty="0"/>
          </a:p>
        </p:txBody>
      </p:sp>
      <p:sp>
        <p:nvSpPr>
          <p:cNvPr id="24" name="card Restricciones del proyecto"/>
          <p:cNvSpPr/>
          <p:nvPr/>
        </p:nvSpPr>
        <p:spPr>
          <a:xfrm>
            <a:off x="548640" y="3383280"/>
            <a:ext cx="5440680" cy="2834640"/>
          </a:xfrm>
          <a:prstGeom prst="roundRect">
            <a:avLst>
              <a:gd name="adj" fmla="val 3226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31520" y="3520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Restricciones del proyecto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93192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 + CSS3 + JavaScript Vanilla, abrible por file://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dependencias ni peticiones de red; sin módulos ES ni fetch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Tema solo con tokens CSS: sin colores literales fuera de :root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Cambiar de tema no altera tamaños ni posiciones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Persistencia admitida solo para el tema (localStorage)</a:t>
            </a:r>
            <a:endParaRPr lang="en-US" sz="1400" dirty="0"/>
          </a:p>
        </p:txBody>
      </p:sp>
      <p:sp>
        <p:nvSpPr>
          <p:cNvPr id="27" name="card Accesibilidad, seguridad y herramientas"/>
          <p:cNvSpPr/>
          <p:nvPr/>
        </p:nvSpPr>
        <p:spPr>
          <a:xfrm>
            <a:off x="6172200" y="3383280"/>
            <a:ext cx="5440680" cy="2834640"/>
          </a:xfrm>
          <a:prstGeom prst="roundRect">
            <a:avLst>
              <a:gd name="adj" fmla="val 3226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6355080" y="3520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Accesibilidad, seguridad y herramientas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931920"/>
            <a:ext cx="5074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Controles nativos y foco visible; el color nunca es la única señal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Contraste WCAG 2.2 AA en ambos temas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OpenSpec (spec-driven) con change add-dark-mode-toggle y DESIGN.md (tokens Light/Dark)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Parte 2 · El caso: Modo oscuro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El change add-dark-mode-toggle recorrido paso a paso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1 · Discovery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2107692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21076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DISCOVERY READY</a:t>
            </a:r>
            <a:endParaRPr lang="en-US" sz="1300" dirty="0"/>
          </a:p>
        </p:txBody>
      </p:sp>
      <p:sp>
        <p:nvSpPr>
          <p:cNvPr id="6" name="card Problema"/>
          <p:cNvSpPr/>
          <p:nvPr/>
        </p:nvSpPr>
        <p:spPr>
          <a:xfrm>
            <a:off x="54864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Problema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hay tema claro, aunque DESIGN.md ya define la paleta oscura. Y se ignora la preferencia del sistema.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133088" y="2926080"/>
            <a:ext cx="14630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card Necesidades"/>
          <p:cNvSpPr/>
          <p:nvPr/>
        </p:nvSpPr>
        <p:spPr>
          <a:xfrm>
            <a:off x="429768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4805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Necesidades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Alternar claro/oscuro desde la zona superior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Tema inicial según el sistema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Recordar la elección manual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Accesibilidad y pasteles legibles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7882128" y="2926080"/>
            <a:ext cx="14630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card Resultado esperado"/>
          <p:cNvSpPr/>
          <p:nvPr/>
        </p:nvSpPr>
        <p:spPr>
          <a:xfrm>
            <a:off x="804672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Resultado esperado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2377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botón de tema que funciona offline por file:// sin romper nada de lo existente.</a:t>
            </a:r>
            <a:endParaRPr lang="en-US" sz="1400" dirty="0"/>
          </a:p>
        </p:txBody>
      </p:sp>
      <p:sp>
        <p:nvSpPr>
          <p:cNvPr id="17" name="card Por qué este proyecto"/>
          <p:cNvSpPr/>
          <p:nvPr/>
        </p:nvSpPr>
        <p:spPr>
          <a:xfrm>
            <a:off x="54864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3152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Por qué este change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8463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Evolución incremental sobre un producto archivado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Alcance pequeño y verificable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foco sigue siendo el flujo OpenSpec</a:t>
            </a:r>
            <a:endParaRPr lang="en-US" sz="1400" dirty="0"/>
          </a:p>
        </p:txBody>
      </p:sp>
      <p:sp>
        <p:nvSpPr>
          <p:cNvPr id="20" name="card Pregunta abierta"/>
          <p:cNvSpPr/>
          <p:nvPr/>
        </p:nvSpPr>
        <p:spPr>
          <a:xfrm>
            <a:off x="617220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35508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Pregunta abierta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484632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¿Cómo persistir la elección? Resuelta en diseño: localStorage con try/catch; sin tercer modo «automático».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2 · Ideation: cinco alternativas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3054096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SOLUTION DIRECTION READY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846320"/>
                <a:gridCol w="155448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Alternativa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Motivo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Tema vía atributo data-theme en &lt;html&gt;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Elegida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Fijable antes del primer pintado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Tema vía clase en &lt;body&gt;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Descartada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permite fijarlo antes de pintar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Script síncrono mínimo en &lt;head&gt;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Elegida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Evita el parpadeo de tema incorrecto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Tema inicial en script.js (defer)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Descartada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Parpadeo visible al cargar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Persistir en cookies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Descartada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Innecesarias y problemáticas en file://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Supuestos: 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todos los colores ya son tokens CSS, así que el tema oscuro es redefinir tokens; los valores de DESIGN.md bastan. Fuera de alcance: selector de tres modos.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Proposal y Spec: de la idea al contrato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3369564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33695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PROPOSAL READY → SPEC READY · 3 requisitos añadidos</a:t>
            </a:r>
            <a:endParaRPr lang="en-US" sz="1300" dirty="0"/>
          </a:p>
        </p:txBody>
      </p:sp>
      <p:sp>
        <p:nvSpPr>
          <p:cNvPr id="6" name="capability periodic-table-display"/>
          <p:cNvSpPr/>
          <p:nvPr/>
        </p:nvSpPr>
        <p:spPr>
          <a:xfrm>
            <a:off x="548640" y="1828800"/>
            <a:ext cx="35661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 toggle</a:t>
            </a:r>
            <a:endParaRPr lang="en-US" sz="1400" dirty="0"/>
          </a:p>
        </p:txBody>
      </p:sp>
      <p:sp>
        <p:nvSpPr>
          <p:cNvPr id="8" name="capability element-search"/>
          <p:cNvSpPr/>
          <p:nvPr/>
        </p:nvSpPr>
        <p:spPr>
          <a:xfrm>
            <a:off x="4297680" y="1828800"/>
            <a:ext cx="35661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choice + persistence</a:t>
            </a:r>
            <a:endParaRPr lang="en-US" sz="1400" dirty="0"/>
          </a:p>
        </p:txBody>
      </p:sp>
      <p:sp>
        <p:nvSpPr>
          <p:cNvPr id="10" name="capability element-details-panel"/>
          <p:cNvSpPr/>
          <p:nvPr/>
        </p:nvSpPr>
        <p:spPr>
          <a:xfrm>
            <a:off x="8046720" y="1828800"/>
            <a:ext cx="356616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04672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Accessible control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Requirement (SHALL)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Escenarios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Light and dark theme toggle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Claro → oscuro · oscuro → claro · búsqueda y selección se conservan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Theme initial choice and persistence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Primera visita sigue el sistema · elección recordada · sin localStorage sin error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Accessible theme control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Activar con teclado (foco permanece) · tema activo anunciado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Requisitos heredados (5)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 cambios: layout, file://, búsqueda, selección y teclado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callout Inconsistencia conocida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Delta spec: 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solo ADDED Requirements; la spec base no se modifica. Al archivar pasa de 5 a 8 requisitos. Sin capabilities nuevas: se modifica periodic-table-web.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4 · Design: arquitectura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1792224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DESIGN READY</a:t>
            </a:r>
            <a:endParaRPr lang="en-US" sz="1300" dirty="0"/>
          </a:p>
        </p:txBody>
      </p:sp>
      <p:sp>
        <p:nvSpPr>
          <p:cNvPr id="6" name="index.html"/>
          <p:cNvSpPr/>
          <p:nvPr/>
        </p:nvSpPr>
        <p:spPr>
          <a:xfrm>
            <a:off x="548640" y="2743200"/>
            <a:ext cx="182880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8" name="styles.css"/>
          <p:cNvSpPr/>
          <p:nvPr/>
        </p:nvSpPr>
        <p:spPr>
          <a:xfrm>
            <a:off x="3383280" y="18288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520440" y="19019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tokens oscuros, color-scheme</a:t>
            </a:r>
            <a:endParaRPr lang="en-US" sz="1400" dirty="0"/>
          </a:p>
        </p:txBody>
      </p:sp>
      <p:sp>
        <p:nvSpPr>
          <p:cNvPr id="10" name="arrow styles.css"/>
          <p:cNvSpPr/>
          <p:nvPr/>
        </p:nvSpPr>
        <p:spPr>
          <a:xfrm flipV="1">
            <a:off x="2423160" y="2194560"/>
            <a:ext cx="914400" cy="9601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data/elements.js"/>
          <p:cNvSpPr/>
          <p:nvPr/>
        </p:nvSpPr>
        <p:spPr>
          <a:xfrm>
            <a:off x="3383280" y="27432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520440" y="28163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data/elements.js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sin cambios</a:t>
            </a:r>
            <a:endParaRPr lang="en-US" sz="1400" dirty="0"/>
          </a:p>
        </p:txBody>
      </p:sp>
      <p:sp>
        <p:nvSpPr>
          <p:cNvPr id="13" name="arrow data/elements.js"/>
          <p:cNvSpPr/>
          <p:nvPr/>
        </p:nvSpPr>
        <p:spPr>
          <a:xfrm flipV="1">
            <a:off x="2423160" y="3108960"/>
            <a:ext cx="914400" cy="457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cript.js"/>
          <p:cNvSpPr/>
          <p:nvPr/>
        </p:nvSpPr>
        <p:spPr>
          <a:xfrm>
            <a:off x="3383280" y="36576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3520440" y="37307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toggle, tema, persistencia</a:t>
            </a:r>
            <a:endParaRPr lang="en-US" sz="1400" dirty="0"/>
          </a:p>
        </p:txBody>
      </p:sp>
      <p:sp>
        <p:nvSpPr>
          <p:cNvPr id="16" name="arrow script.js"/>
          <p:cNvSpPr/>
          <p:nvPr/>
        </p:nvSpPr>
        <p:spPr>
          <a:xfrm>
            <a:off x="2423160" y="3154680"/>
            <a:ext cx="914400" cy="8686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callout file:// sin servidor"/>
          <p:cNvSpPr/>
          <p:nvPr/>
        </p:nvSpPr>
        <p:spPr>
          <a:xfrm>
            <a:off x="548640" y="4663440"/>
            <a:ext cx="5577840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31520" y="46634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Sin parpadeo: 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script síncrono en &lt;head&gt; fija data-theme antes del primer pintado.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9" name="card Decisiones clave"/>
          <p:cNvSpPr/>
          <p:nvPr/>
        </p:nvSpPr>
        <p:spPr>
          <a:xfrm>
            <a:off x="6400800" y="1828800"/>
            <a:ext cx="5212080" cy="3474720"/>
          </a:xfrm>
          <a:prstGeom prst="roundRect">
            <a:avLst>
              <a:gd name="adj" fmla="val 2632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Decisiones clave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237744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data-theme en &lt;html&gt;; tokens bajo :root[data-theme="dark"]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Persistencia en localStorage (pt-theme) con try/catch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Botón con aria-pressed, etiqueta textual e iconos SVG decorativos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color-scheme por tema; transición de 240 ms, anulada con reduced motion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Sigue prefers-color-scheme solo sin elección manual</a:t>
            </a:r>
            <a:endParaRPr lang="en-US" sz="1400" dirty="0"/>
          </a:p>
        </p:txBody>
      </p:sp>
      <p:sp>
        <p:nvSpPr>
          <p:cNvPr id="22" name="callout Riesgos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Riesgos: 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contraste de pasteles oscuros · script en head duplica lógica · localStorage bloqueado · el cambio no debe alterar el layout.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5 · Tasks: 4 grupos trazables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2633472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READY · 10 de 11 tareas [x]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03120"/>
                <a:gridCol w="585216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Grupo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Contenido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Requisito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Tema oscuro en estilos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:root[data-theme="dark"], color-scheme, sin colores literales, transición + reduced motion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Theme toggle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Botón de tema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Botón en cabecera (SVG, etiqueta, aria-pressed), foco, objetivo táctil, móvil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Accessible control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Lógica de tema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Script en &lt;head&gt;, alternancia, guardado con try/catch, seguir el sistema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Initial choice + persistence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Verificación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Contrastes AA, estabilidad, teclado/AT, persistencia, file://, DESIGN.md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Definition of Done: 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cumplida del todo; la tarea 4.3 (teclado y AT, persistencia, primer acceso, file://) sigue sin marcar.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6 · Implement: un delta pequeño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294894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29489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IMPLEMENTATION COMPLETE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 validateCatalog()"/>
          <p:cNvSpPr/>
          <p:nvPr/>
        </p:nvSpPr>
        <p:spPr>
          <a:xfrm>
            <a:off x="6858000" y="182880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04088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applyTheme()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23774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Fija data-theme, aria-pressed y la etiqueta del botón.</a:t>
            </a:r>
            <a:endParaRPr lang="en-US" sz="1400" dirty="0"/>
          </a:p>
        </p:txBody>
      </p:sp>
      <p:sp>
        <p:nvSpPr>
          <p:cNvPr id="10" name="card createTile()"/>
          <p:cNvSpPr/>
          <p:nvPr/>
        </p:nvSpPr>
        <p:spPr>
          <a:xfrm>
            <a:off x="6858000" y="329184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704088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toggleTheme()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3840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Alterna, anima 300 ms y guarda pt-theme en try/catch.</a:t>
            </a:r>
            <a:endParaRPr lang="en-US" sz="1400" dirty="0"/>
          </a:p>
        </p:txBody>
      </p:sp>
      <p:sp>
        <p:nvSpPr>
          <p:cNvPr id="13" name="card Sin reconstrucción"/>
          <p:cNvSpPr/>
          <p:nvPr/>
        </p:nvSpPr>
        <p:spPr>
          <a:xfrm>
            <a:off x="6858000" y="4754880"/>
            <a:ext cx="475488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040880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Sin tocar la tabla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5303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cambian valores de color: búsqueda y selección no se alteran.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 7 · Verify &amp; Validate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189738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897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RELEASE READY · condicionado a la tarea 4.3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7315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Criterio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Evidencia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Botón en zona superior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HECHO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#theme-toggle en index.html; toggleTheme() en script.js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Tema inicial + elección recordada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HECHO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Script en &lt;head&gt; + localStorage pt-theme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Almacenamiento no disponible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HECHO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try/catch en lectura y escritura; sin error visible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Contrastes AA en ambos temas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MARCADO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Tarea 4.1 [x]; sin informe adjunto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Estabilidad al alternar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MARCADO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Tarea 4.2 [x]; sin informe adjunto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DESIGN.md actualizado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HECHO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Sección Theme Toggle (tarea 4.4)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Teclado, AT, persistencia, file://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PENDIENTE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Tarea 4.3 sin marcar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llout Gaps y riesgo residual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Gaps y riesgo residual: 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tarea 4.3 abierta · sin evidencia de QA propia del dark mode (los informes de .omo son del build) · sin tests automatizados · sin Safari ni lector de pantalla real.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Pasos 8 y 9 · Release y Archive</a:t>
            </a:r>
            <a:endParaRPr lang="en-US" sz="3600" dirty="0"/>
          </a:p>
        </p:txBody>
      </p:sp>
      <p:sp>
        <p:nvSpPr>
          <p:cNvPr id="4" name="exit signal"/>
          <p:cNvSpPr/>
          <p:nvPr/>
        </p:nvSpPr>
        <p:spPr>
          <a:xfrm>
            <a:off x="548640" y="1280160"/>
            <a:ext cx="4946904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RELEASE STABLE pendiente · ✔ CHANGE CLOSED (con 4.3 abierta)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Paso 8 · Release &amp; Operate</a:t>
            </a:r>
            <a:endParaRPr lang="en-US" sz="1800" dirty="0"/>
          </a:p>
        </p:txBody>
      </p:sp>
      <p:sp>
        <p:nvSpPr>
          <p:cNvPr id="7" name="release step"/>
          <p:cNvSpPr/>
          <p:nvPr/>
        </p:nvSpPr>
        <p:spPr>
          <a:xfrm>
            <a:off x="548640" y="233172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3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Copiar ficheros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3246120" y="289864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release step"/>
          <p:cNvSpPr/>
          <p:nvPr/>
        </p:nvSpPr>
        <p:spPr>
          <a:xfrm>
            <a:off x="548640" y="310896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3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Abrir index.html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3246120" y="367588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release step"/>
          <p:cNvSpPr/>
          <p:nvPr/>
        </p:nvSpPr>
        <p:spPr>
          <a:xfrm>
            <a:off x="548640" y="388620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3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31520" y="3886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Local o hosting estático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3246120" y="4453128"/>
            <a:ext cx="0" cy="19202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release step"/>
          <p:cNvSpPr/>
          <p:nvPr/>
        </p:nvSpPr>
        <p:spPr>
          <a:xfrm>
            <a:off x="548640" y="466344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accent4">
              <a:alpha val="13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31520" y="4663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Rollback: restaurar directorio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Sin build ni servidor; la elección de tema se guarda por navegador.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Paso 9 · Archive &amp; Learn</a:t>
            </a:r>
            <a:endParaRPr lang="en-US" sz="1800" dirty="0"/>
          </a:p>
        </p:txBody>
      </p:sp>
      <p:sp>
        <p:nvSpPr>
          <p:cNvPr id="20" name="card Current truth por actualizar"/>
          <p:cNvSpPr/>
          <p:nvPr/>
        </p:nvSpPr>
        <p:spPr>
          <a:xfrm>
            <a:off x="6217920" y="2331720"/>
            <a:ext cx="5394960" cy="182880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Current truth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28803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Archivado en archive/2026-10-27-add-dark-mode-toggle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 principal sincronizada: 5 → 8 requisitos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Tarea 4.3 archivada sin completar</a:t>
            </a:r>
            <a:endParaRPr lang="en-US" sz="1400" dirty="0"/>
          </a:p>
        </p:txBody>
      </p:sp>
      <p:sp>
        <p:nvSpPr>
          <p:cNvPr id="23" name="card Lecciones y follow-up"/>
          <p:cNvSpPr/>
          <p:nvPr/>
        </p:nvSpPr>
        <p:spPr>
          <a:xfrm>
            <a:off x="6217920" y="4343400"/>
            <a:ext cx="5394960" cy="1920240"/>
          </a:xfrm>
          <a:prstGeom prst="roundRect">
            <a:avLst>
              <a:gd name="adj" fmla="val 4762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Lecciones y follow-up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48920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Tokens CSS: el tema es redefinir valores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Script en head evita el parpadeo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Completar 4.3 antes de archivar; guardar evidencia en el repo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Parte 3 · La presentación por dentro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 único HTML con CSS y JavaScript vanilla: navegación, temas, SVG y accesibilidad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Motor de diapositivas en JS vanilla</a:t>
            </a:r>
            <a:endParaRPr lang="en-US" sz="3600" dirty="0"/>
          </a:p>
        </p:txBody>
      </p:sp>
      <p:sp>
        <p:nvSpPr>
          <p:cNvPr id="4" name="code box"/>
          <p:cNvSpPr/>
          <p:nvPr/>
        </p:nvSpPr>
        <p:spPr>
          <a:xfrm>
            <a:off x="548640" y="1463040"/>
            <a:ext cx="5943600" cy="4754880"/>
          </a:xfrm>
          <a:prstGeom prst="roundRect">
            <a:avLst>
              <a:gd name="adj" fmla="val 192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go(i){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 = Math.max(0, Math.min(n-1, i));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slides.forEach((s,k) =&gt;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s.classList.toggle('active', k===cur);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s.classList.toggle('past', k&lt;cur);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s.setAttribute('aria-hidden', k!==cur);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bar.style.width = (cur+1)/n*100 + '%';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history.replaceState(null,'','#'+(cur+1));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→ PageUp PageDown Espacio Home 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55448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slide es una section absoluta; solo .active es visible (opacity + visibility)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Estado mínimo: el índice cur. go(i) actualiza clases, puntos, barra y hash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hash de la URL permite enlazar a una diapositiva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único .html: estilo y script inline, sin librerías ni build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Temas con variables CSS</a:t>
            </a:r>
            <a:endParaRPr lang="en-US" sz="3600" dirty="0"/>
          </a:p>
        </p:txBody>
      </p:sp>
      <p:sp>
        <p:nvSpPr>
          <p:cNvPr id="4" name="code box"/>
          <p:cNvSpPr/>
          <p:nvPr/>
        </p:nvSpPr>
        <p:spPr>
          <a:xfrm>
            <a:off x="548640" y="1463040"/>
            <a:ext cx="5943600" cy="301752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:root{ --bg:#f6f4ef; --accent:#3b5bdb;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(prefers-color-scheme: dark){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:root:not([data-theme="light"]){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--bg:#14161c; --accent:#8aa2ff;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:root[data-theme="dark"]{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--bg:#14161c; --accent:#8aa2ff;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5544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 defecto sigue la preferencia del sistema (prefers-color-scheme)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botón Tema fija data-theme y anula la preferencia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el CSS usa var(--token): cambiar tema no toca componentes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SVG heredan colores con var() en fill y stroke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Tokens: claro (arriba) y oscuro (abajo)</a:t>
            </a:r>
            <a:endParaRPr lang="en-US" sz="1400" dirty="0"/>
          </a:p>
        </p:txBody>
      </p:sp>
      <p:sp>
        <p:nvSpPr>
          <p:cNvPr id="8" name="token swatch"/>
          <p:cNvSpPr/>
          <p:nvPr/>
        </p:nvSpPr>
        <p:spPr>
          <a:xfrm>
            <a:off x="54864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6F4EF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--bg</a:t>
            </a:r>
            <a:endParaRPr lang="en-US" sz="1200" dirty="0"/>
          </a:p>
        </p:txBody>
      </p:sp>
      <p:sp>
        <p:nvSpPr>
          <p:cNvPr id="10" name="token swatch"/>
          <p:cNvSpPr/>
          <p:nvPr/>
        </p:nvSpPr>
        <p:spPr>
          <a:xfrm>
            <a:off x="173736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3736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--surface</a:t>
            </a:r>
            <a:endParaRPr lang="en-US" sz="1200" dirty="0"/>
          </a:p>
        </p:txBody>
      </p:sp>
      <p:sp>
        <p:nvSpPr>
          <p:cNvPr id="12" name="token swatch"/>
          <p:cNvSpPr/>
          <p:nvPr/>
        </p:nvSpPr>
        <p:spPr>
          <a:xfrm>
            <a:off x="292608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F2430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608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--ink</a:t>
            </a:r>
            <a:endParaRPr lang="en-US" sz="1200" dirty="0"/>
          </a:p>
        </p:txBody>
      </p:sp>
      <p:sp>
        <p:nvSpPr>
          <p:cNvPr id="14" name="token swatch"/>
          <p:cNvSpPr/>
          <p:nvPr/>
        </p:nvSpPr>
        <p:spPr>
          <a:xfrm>
            <a:off x="411480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3B5BDB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--accent</a:t>
            </a:r>
            <a:endParaRPr lang="en-US" sz="1200" dirty="0"/>
          </a:p>
        </p:txBody>
      </p:sp>
      <p:sp>
        <p:nvSpPr>
          <p:cNvPr id="16" name="token swatch"/>
          <p:cNvSpPr/>
          <p:nvPr/>
        </p:nvSpPr>
        <p:spPr>
          <a:xfrm>
            <a:off x="5303520" y="50749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2B8A3E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0" y="5074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--ok</a:t>
            </a:r>
            <a:endParaRPr lang="en-US" sz="1200" dirty="0"/>
          </a:p>
        </p:txBody>
      </p:sp>
      <p:sp>
        <p:nvSpPr>
          <p:cNvPr id="18" name="token swatch"/>
          <p:cNvSpPr/>
          <p:nvPr/>
        </p:nvSpPr>
        <p:spPr>
          <a:xfrm>
            <a:off x="54864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--bg</a:t>
            </a:r>
            <a:endParaRPr lang="en-US" sz="1200" dirty="0"/>
          </a:p>
        </p:txBody>
      </p:sp>
      <p:sp>
        <p:nvSpPr>
          <p:cNvPr id="20" name="token swatch"/>
          <p:cNvSpPr/>
          <p:nvPr/>
        </p:nvSpPr>
        <p:spPr>
          <a:xfrm>
            <a:off x="173736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D2029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3736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--surface</a:t>
            </a:r>
            <a:endParaRPr lang="en-US" sz="1200" dirty="0"/>
          </a:p>
        </p:txBody>
      </p:sp>
      <p:sp>
        <p:nvSpPr>
          <p:cNvPr id="22" name="token swatch"/>
          <p:cNvSpPr/>
          <p:nvPr/>
        </p:nvSpPr>
        <p:spPr>
          <a:xfrm>
            <a:off x="292608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CEEF4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608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--ink</a:t>
            </a:r>
            <a:endParaRPr lang="en-US" sz="1200" dirty="0"/>
          </a:p>
        </p:txBody>
      </p:sp>
      <p:sp>
        <p:nvSpPr>
          <p:cNvPr id="24" name="token swatch"/>
          <p:cNvSpPr/>
          <p:nvPr/>
        </p:nvSpPr>
        <p:spPr>
          <a:xfrm>
            <a:off x="411480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8AA2FF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1480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--accent</a:t>
            </a:r>
            <a:endParaRPr lang="en-US" sz="1200" dirty="0"/>
          </a:p>
        </p:txBody>
      </p:sp>
      <p:sp>
        <p:nvSpPr>
          <p:cNvPr id="26" name="token swatch"/>
          <p:cNvSpPr/>
          <p:nvPr/>
        </p:nvSpPr>
        <p:spPr>
          <a:xfrm>
            <a:off x="5303520" y="57150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6FCF86"/>
          </a:solidFill>
          <a:ln w="9525">
            <a:solidFill>
              <a:srgbClr val="AAB1C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03520" y="5715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--ok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Accesibilidad e interactividad</a:t>
            </a:r>
            <a:endParaRPr lang="en-US" sz="3600" dirty="0"/>
          </a:p>
        </p:txBody>
      </p:sp>
      <p:sp>
        <p:nvSpPr>
          <p:cNvPr id="4" name="card Teclado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Teclado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Todas las acciones tienen equivalente: flechas, Espacio, Inicio/Fin, Enter en tablas y SVG.</a:t>
            </a:r>
            <a:endParaRPr lang="en-US" sz="1500" dirty="0"/>
          </a:p>
        </p:txBody>
      </p:sp>
      <p:sp>
        <p:nvSpPr>
          <p:cNvPr id="7" name="card ARIA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ARIA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aria-live en detalles, aria-pressed en toggles, aria-hidden en slides inactivas y role=img en SVG.</a:t>
            </a:r>
            <a:endParaRPr lang="en-US" sz="1500" dirty="0"/>
          </a:p>
        </p:txBody>
      </p:sp>
      <p:sp>
        <p:nvSpPr>
          <p:cNvPr id="10" name="card Foco y movimiento"/>
          <p:cNvSpPr/>
          <p:nvPr/>
        </p:nvSpPr>
        <p:spPr>
          <a:xfrm>
            <a:off x="804672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Foco y movimiento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0116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:focus-visible con contorno de 3 px y prefers-reduced-motion que anula transiciones.</a:t>
            </a:r>
            <a:endParaRPr lang="en-US" sz="1500" dirty="0"/>
          </a:p>
        </p:txBody>
      </p:sp>
      <p:sp>
        <p:nvSpPr>
          <p:cNvPr id="13" name="card SVG inline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SVG inline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48056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Diagramas con flechas via marker y colores por var(); el ciclo se genera desde un array.</a:t>
            </a:r>
            <a:endParaRPr lang="en-US" sz="1500" dirty="0"/>
          </a:p>
        </p:txBody>
      </p:sp>
      <p:sp>
        <p:nvSpPr>
          <p:cNvPr id="16" name="card Componentes"/>
          <p:cNvSpPr/>
          <p:nvPr/>
        </p:nvSpPr>
        <p:spPr>
          <a:xfrm>
            <a:off x="429768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Componentes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448056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Alternativas, requisitos y criterios son botones o filas que actualizan un panel de detalle.</a:t>
            </a:r>
            <a:endParaRPr lang="en-US" sz="1500" dirty="0"/>
          </a:p>
        </p:txBody>
      </p:sp>
      <p:sp>
        <p:nvSpPr>
          <p:cNvPr id="19" name="card Visualizaciones"/>
          <p:cNvSpPr/>
          <p:nvPr/>
        </p:nvSpPr>
        <p:spPr>
          <a:xfrm>
            <a:off x="804672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Visualizaciones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48056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Mini tabla periódica con tres modos y barras que se animan al activar la diapositiva.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Balance y siguiente paso</a:t>
            </a:r>
            <a:endParaRPr lang="en-US" sz="3600" dirty="0"/>
          </a:p>
        </p:txBody>
      </p:sp>
      <p:sp>
        <p:nvSpPr>
          <p:cNvPr id="4" name="balance card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Conseguido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Botón de tema, paleta oscura y tema inicial del sistema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Elección recordada; sin dependencias ni red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Delta spec limpio: 3 requisitos añadidos</a:t>
            </a:r>
            <a:endParaRPr lang="en-US" sz="1600" dirty="0"/>
          </a:p>
        </p:txBody>
      </p:sp>
      <p:sp>
        <p:nvSpPr>
          <p:cNvPr id="7" name="balance card"/>
          <p:cNvSpPr/>
          <p:nvPr/>
        </p:nvSpPr>
        <p:spPr>
          <a:xfrm>
            <a:off x="6172200" y="1463040"/>
            <a:ext cx="544068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4652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abierta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286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Tarea 4.3 sin completar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Sin evidencia de QA propia ni tests automatizados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Sin verificación en Safari; release sin confirmar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Siguiente acción: 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completar la tarea 4.3, guardar la evidencia en el repo y confirmar el release.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iodic SDD">
  <a:themeElements>
    <a:clrScheme name="Periodic SDD">
      <a:dk1>
        <a:srgbClr val="1F2430"/>
      </a:dk1>
      <a:lt1>
        <a:srgbClr val="FFFFFF"/>
      </a:lt1>
      <a:dk2>
        <a:srgbClr val="5D6577"/>
      </a:dk2>
      <a:lt2>
        <a:srgbClr val="F1F4FA"/>
      </a:lt2>
      <a:accent1>
        <a:srgbClr val="3B5BDB"/>
      </a:accent1>
      <a:accent2>
        <a:srgbClr val="2B8A3E"/>
      </a:accent2>
      <a:accent3>
        <a:srgbClr val="B36B00"/>
      </a:accent3>
      <a:accent4>
        <a:srgbClr val="C92A2A"/>
      </a:accent4>
      <a:accent5>
        <a:srgbClr val="7048E8"/>
      </a:accent5>
      <a:accent6>
        <a:srgbClr val="0C8599"/>
      </a:accent6>
      <a:hlink>
        <a:srgbClr val="3B5BDB"/>
      </a:hlink>
      <a:folHlink>
        <a:srgbClr val="7048E8"/>
      </a:folHlink>
    </a:clrScheme>
    <a:fontScheme name="Periodic SD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Periodic Table · SDD en 9 pasos</dc:title>
  <dc:subject>PptxGenJS Presentation</dc:subject>
  <dc:creator>vjmadrid</dc:creator>
  <cp:lastModifiedBy>vjmadrid</cp:lastModifiedBy>
  <cp:revision>1</cp:revision>
  <dcterms:created xsi:type="dcterms:W3CDTF">2026-10-23T10:41:59Z</dcterms:created>
  <dcterms:modified xsi:type="dcterms:W3CDTF">2026-10-23T10:41:59Z</dcterms:modified>
</cp:coreProperties>
</file>