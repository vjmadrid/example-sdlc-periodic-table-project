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430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2430"/>
                </a:solidFill>
                <a:latin typeface="+mn-lt"/>
              </a:rPr>
              <a:t>Líneas por fichero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Líneas</c:v>
                </c:pt>
              </c:strCache>
            </c:strRef>
          </c:tx>
          <c:spPr>
            <a:solidFill>
              <a:srgbClr val="3B5B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styles.css</c:v>
                  </c:pt>
                  <c:pt idx="1">
                    <c:v>script.js</c:v>
                  </c:pt>
                  <c:pt idx="2">
                    <c:v>DESIGN.md</c:v>
                  </c:pt>
                  <c:pt idx="3">
                    <c:v>data/elements.js</c:v>
                  </c:pt>
                  <c:pt idx="4">
                    <c:v>index.html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956</c:v>
                </c:pt>
                <c:pt idx="1">
                  <c:v>284</c:v>
                </c:pt>
                <c:pt idx="2">
                  <c:v>209</c:v>
                </c:pt>
                <c:pt idx="3">
                  <c:v>122</c:v>
                </c:pt>
                <c:pt idx="4">
                  <c:v>112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didáctica sobre el flujo SDD de 9 pasos, aplicado al proyecto Tabla Periódica. Tres bloques: el marco, el caso y la técnica de la presentación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bloques: marco teórico, caso aplicado, y el detalle técnico de la presentación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 entendemos las reglas del juego.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son tres procesos independientes: son tres vistas del mismo cambio. Lifecycle dice qué hacemos, controles bajo qué reglas, gates qué evidencia hace falta para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paso responde una pregunta distinta y termina con una señal de salida. Ideation es opcional (asterisco en el framework).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artefactos no son documentación posterior: son la evidencia que madura a lo largo del ciclo. Proposal es un punto de control, no un paso numerado.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gobernanza no cuenta como paso del ciclo: es la base inicial y una capa de control continua. En el proyecto se concreta en restricciones técnicas y de accesibilidad.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Ahora aplicamos el marco a un proyecto real: una tabla periódica estática con OpenSpec.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reduce la incertidumbre sobre el problema antes de explorar soluciones. Se eligió este proyecto por ser familiar y permitir iterar; el objetivo es aprender el flujo, no 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exploran alternativas antes de comprometerse. Dos decisiones clave: separar en cuatro ficheros y marcar coincidencias con clases CSS en lugar de reconstruir la tabla.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propuesta formaliza la dirección elegida. La spec define el comportamiento observable con requisitos y escenarios verificables. Hay una inconsistencia detectada en la spec (14 vs 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son cuatro recursos locales. data/elements.js es un script clásico que expone un array global, sin import/export ni fetch, para conservar la compatibilidad con file://.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Siete periodos por 18 grupos, una fila divisora de una celda de altura y dos filas para lantánidos y actínidos (15 elementos cada una). Las celdas tienen tamaño fijo: seleccionar o buscar no cambia la geometría.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grupo de tareas se enlaza con un requisito de la spec. Todas aparecen marcadas como completadas en tasks.md.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código real son unas 1.700 líneas con DESIGN.md. script.js y styles.css superan las 250 líneas recomendadas. El directorio no tiene commits en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informes de .omo/evidence dan APPROVE sin bloqueantes. La verificación fue manual y con capturas; no existen tests automatizados.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pasos están pendientes de confirmar: no hay despliegue ni archivado en OpenSpec. Safari no figura verificado.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propia presentación aplica los mismos principios: sin dependencias, funciona offline y es accesible.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slide es una section posicionada de forma absoluta. Solo la clase active es visible, con transición de opacity y transform. El estado se reduce al índice cur.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colores son tokens en :root. El tema oscuro se activa por preferencia del sistema o por el botón; data-theme tiene prioridad. El coste es duplicar los tokens oscuros en dos reglas.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diagramas se generan desde datos JS y se insertan como SVG inline con role=img. Los componentes interactivos usan botones nativos y regiones aria-live.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lo conseguido, la deuda abierta y la acción recomendada: corregir la spec, sincronizar y archivar.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Spec Driven Development en 9 pasos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Caso práctico: una tabla periódica interactiva con OpenSpec, y cómo está construida la presentación que la explica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Qué vamos a ver</a:t>
            </a:r>
            <a:endParaRPr lang="en-US" sz="3600" dirty="0"/>
          </a:p>
        </p:txBody>
      </p:sp>
      <p:sp>
        <p:nvSpPr>
          <p:cNvPr id="4" name="agenda 01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El marco SDD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Tres dimensiones, nueve pasos, señales de salida y gobernanza.</a:t>
            </a:r>
            <a:endParaRPr lang="en-US" sz="1600" dirty="0"/>
          </a:p>
        </p:txBody>
      </p:sp>
      <p:sp>
        <p:nvSpPr>
          <p:cNvPr id="8" name="agenda 02"/>
          <p:cNvSpPr/>
          <p:nvPr/>
        </p:nvSpPr>
        <p:spPr>
          <a:xfrm>
            <a:off x="429768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El caso: Tabla Periódica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Cada paso con su artefacto real: del problema al cierre.</a:t>
            </a:r>
            <a:endParaRPr lang="en-US" sz="1600" dirty="0"/>
          </a:p>
        </p:txBody>
      </p:sp>
      <p:sp>
        <p:nvSpPr>
          <p:cNvPr id="12" name="agenda 03"/>
          <p:cNvSpPr/>
          <p:nvPr/>
        </p:nvSpPr>
        <p:spPr>
          <a:xfrm>
            <a:off x="804672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104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La presentación HTML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Cómo está hecha: JS vanilla, temas, SVG y accesibilidad.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Parte 1 · El marco SDD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Lifecycle, controles continuos y quality gates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Tres dimensiones simultáneas</a:t>
            </a:r>
            <a:endParaRPr lang="en-US" sz="3600" dirty="0"/>
          </a:p>
        </p:txBody>
      </p:sp>
      <p:sp>
        <p:nvSpPr>
          <p:cNvPr id="4" name="dimension Lifecycle"/>
          <p:cNvSpPr/>
          <p:nvPr/>
        </p:nvSpPr>
        <p:spPr>
          <a:xfrm>
            <a:off x="548640" y="1463040"/>
            <a:ext cx="3566160" cy="4114800"/>
          </a:xfrm>
          <a:prstGeom prst="roundRect">
            <a:avLst>
              <a:gd name="adj" fmla="val 2564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number circle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Lifecycle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¿Qué trabajo hacemos?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secuencia de trabajo y decisiones: Discovery → Ideation → Specify → Design → Plan → Implement → Verify → Release → Archive.</a:t>
            </a:r>
            <a:endParaRPr lang="en-US" sz="1500" dirty="0"/>
          </a:p>
        </p:txBody>
      </p:sp>
      <p:sp>
        <p:nvSpPr>
          <p:cNvPr id="10" name="dimension Continuous Controls"/>
          <p:cNvSpPr/>
          <p:nvPr/>
        </p:nvSpPr>
        <p:spPr>
          <a:xfrm>
            <a:off x="4297680" y="1463040"/>
            <a:ext cx="3566160" cy="4114800"/>
          </a:xfrm>
          <a:prstGeom prst="roundRect">
            <a:avLst>
              <a:gd name="adj" fmla="val 256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number circle"/>
          <p:cNvSpPr/>
          <p:nvPr/>
        </p:nvSpPr>
        <p:spPr>
          <a:xfrm>
            <a:off x="4526280" y="1691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Continuous Controls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¿Bajo qué reglas?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31089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Principios, políticas, estándares y restricciones que operan durante todo el ciclo (la gobernanza).</a:t>
            </a:r>
            <a:endParaRPr lang="en-US" sz="1500" dirty="0"/>
          </a:p>
        </p:txBody>
      </p:sp>
      <p:sp>
        <p:nvSpPr>
          <p:cNvPr id="16" name="dimension Quality Gates"/>
          <p:cNvSpPr/>
          <p:nvPr/>
        </p:nvSpPr>
        <p:spPr>
          <a:xfrm>
            <a:off x="8046720" y="1463040"/>
            <a:ext cx="3566160" cy="4114800"/>
          </a:xfrm>
          <a:prstGeom prst="roundRect">
            <a:avLst>
              <a:gd name="adj" fmla="val 2564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number circle"/>
          <p:cNvSpPr/>
          <p:nvPr/>
        </p:nvSpPr>
        <p:spPr>
          <a:xfrm>
            <a:off x="8275320" y="16916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Quality Gates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¿Qué evidencia necesitamos?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31089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Antes de avanzar hay que demostrar algo: cada paso termina con una señal de salida verificable.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Lifecycle dice qué hacemos · Controles dicen bajo qué reglas · Gates dicen qué debemos demostrar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Los 9 pasos y su pregunta guía</a:t>
            </a:r>
            <a:endParaRPr lang="en-US" sz="3600" dirty="0"/>
          </a:p>
        </p:txBody>
      </p:sp>
      <p:sp>
        <p:nvSpPr>
          <p:cNvPr id="4" name="step 1 · Discovery"/>
          <p:cNvSpPr/>
          <p:nvPr/>
        </p:nvSpPr>
        <p:spPr>
          <a:xfrm>
            <a:off x="548640" y="137160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1 · Discovery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problema resolvemos y por qué importa?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DISCOVERY READY</a:t>
            </a:r>
            <a:endParaRPr lang="en-US" sz="1200" dirty="0"/>
          </a:p>
        </p:txBody>
      </p:sp>
      <p:sp>
        <p:nvSpPr>
          <p:cNvPr id="8" name="step 2 · Ideation *"/>
          <p:cNvSpPr/>
          <p:nvPr/>
        </p:nvSpPr>
        <p:spPr>
          <a:xfrm>
            <a:off x="4297680" y="137160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8056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2 · Ideation *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podríamos hacer al respecto?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SOLUTION DIRECTION READY</a:t>
            </a:r>
            <a:endParaRPr lang="en-US" sz="1200" dirty="0"/>
          </a:p>
        </p:txBody>
      </p:sp>
      <p:sp>
        <p:nvSpPr>
          <p:cNvPr id="12" name="step 3 · Specification"/>
          <p:cNvSpPr/>
          <p:nvPr/>
        </p:nvSpPr>
        <p:spPr>
          <a:xfrm>
            <a:off x="8046720" y="137160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3 · Specification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debe hacer exactamente el sistema?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SPEC READY</a:t>
            </a:r>
            <a:endParaRPr lang="en-US" sz="1200" dirty="0"/>
          </a:p>
        </p:txBody>
      </p:sp>
      <p:sp>
        <p:nvSpPr>
          <p:cNvPr id="16" name="step 4 · Design"/>
          <p:cNvSpPr/>
          <p:nvPr/>
        </p:nvSpPr>
        <p:spPr>
          <a:xfrm>
            <a:off x="548640" y="301752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4 · Design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474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¿Cómo satisfará el sistema la spec?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DESIGN READY</a:t>
            </a:r>
            <a:endParaRPr lang="en-US" sz="1200" dirty="0"/>
          </a:p>
        </p:txBody>
      </p:sp>
      <p:sp>
        <p:nvSpPr>
          <p:cNvPr id="20" name="step 5 · Tasks / Planning"/>
          <p:cNvSpPr/>
          <p:nvPr/>
        </p:nvSpPr>
        <p:spPr>
          <a:xfrm>
            <a:off x="4297680" y="301752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8056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5 · Tasks / Planning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4480560" y="3474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trabajo, en qué orden y cómo se demuestra?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IMPLEMENTATION READY</a:t>
            </a:r>
            <a:endParaRPr lang="en-US" sz="1200" dirty="0"/>
          </a:p>
        </p:txBody>
      </p:sp>
      <p:sp>
        <p:nvSpPr>
          <p:cNvPr id="24" name="step 6 · Implement"/>
          <p:cNvSpPr/>
          <p:nvPr/>
        </p:nvSpPr>
        <p:spPr>
          <a:xfrm>
            <a:off x="8046720" y="301752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6 · Implement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3474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¿Ejecutamos sin redefinir la intención?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IMPLEMENTATION COMPLETE</a:t>
            </a:r>
            <a:endParaRPr lang="en-US" sz="1200" dirty="0"/>
          </a:p>
        </p:txBody>
      </p:sp>
      <p:sp>
        <p:nvSpPr>
          <p:cNvPr id="28" name="step 7 · Verify &amp; Validate"/>
          <p:cNvSpPr/>
          <p:nvPr/>
        </p:nvSpPr>
        <p:spPr>
          <a:xfrm>
            <a:off x="548640" y="466344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4773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7 · Verify &amp; Validate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5120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¿Lo construimos bien? ¿Sirve para su propósito?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" y="5779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RELEASE READY</a:t>
            </a:r>
            <a:endParaRPr lang="en-US" sz="1200" dirty="0"/>
          </a:p>
        </p:txBody>
      </p:sp>
      <p:sp>
        <p:nvSpPr>
          <p:cNvPr id="32" name="step 8 · Release &amp; Operate"/>
          <p:cNvSpPr/>
          <p:nvPr/>
        </p:nvSpPr>
        <p:spPr>
          <a:xfrm>
            <a:off x="4297680" y="466344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80560" y="4773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8 · Release &amp; Operate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4480560" y="5120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¿Opera de forma segura y estable?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480560" y="5779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RELEASE STABLE</a:t>
            </a:r>
            <a:endParaRPr lang="en-US" sz="1200" dirty="0"/>
          </a:p>
        </p:txBody>
      </p:sp>
      <p:sp>
        <p:nvSpPr>
          <p:cNvPr id="36" name="step 9 · Archive &amp; Learn"/>
          <p:cNvSpPr/>
          <p:nvPr/>
        </p:nvSpPr>
        <p:spPr>
          <a:xfrm>
            <a:off x="8046720" y="466344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29600" y="4773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9 · Archive &amp; Learn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8229600" y="5120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conservamos, aprendemos y mejoramos?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229600" y="5779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CHANGE CLOSED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Artefactos y quality gates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120640"/>
                <a:gridCol w="3383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Artefacto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Señal de salida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 Discovery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discovery.md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DISCOVERY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 Ideation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ideation.md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SOLUTION DIRECTION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Proposal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proposal.md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PROPOSAL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 Specification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 Design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design.md + ADRs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DESIGN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 Tasks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tasks.md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IMPLEMENTATION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 Implement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evidencia de implementación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IMPLEMENTATION COMPLETE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 Verify &amp; Validate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verification-report, validation-report, evals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RELEASE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 Release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release.md, release-evidence.md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RELEASE STABLE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 Archive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closure, retrospective, lessons-learned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CHANGE CLOSED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Governance Foundation: reglas transversales</a:t>
            </a:r>
            <a:endParaRPr lang="en-US" sz="3600" dirty="0"/>
          </a:p>
        </p:txBody>
      </p:sp>
      <p:sp>
        <p:nvSpPr>
          <p:cNvPr id="4" name="governance frame"/>
          <p:cNvSpPr/>
          <p:nvPr/>
        </p:nvSpPr>
        <p:spPr>
          <a:xfrm>
            <a:off x="548640" y="1371600"/>
            <a:ext cx="11064240" cy="1737360"/>
          </a:xfrm>
          <a:prstGeom prst="roundRect">
            <a:avLst>
              <a:gd name="adj" fmla="val 6316"/>
            </a:avLst>
          </a:prstGeom>
          <a:solidFill>
            <a:schemeClr val="accent1">
              <a:alpha val="6000"/>
            </a:scheme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Governance Foundation (aplica a los 9 pasos)</a:t>
            </a:r>
            <a:endParaRPr lang="en-US" sz="1800" dirty="0"/>
          </a:p>
        </p:txBody>
      </p:sp>
      <p:sp>
        <p:nvSpPr>
          <p:cNvPr id="6" name="step box Discovery"/>
          <p:cNvSpPr/>
          <p:nvPr/>
        </p:nvSpPr>
        <p:spPr>
          <a:xfrm>
            <a:off x="822960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Discovery</a:t>
            </a:r>
            <a:endParaRPr lang="en-US" sz="1400" dirty="0"/>
          </a:p>
        </p:txBody>
      </p:sp>
      <p:sp>
        <p:nvSpPr>
          <p:cNvPr id="8" name="step box Ideation"/>
          <p:cNvSpPr/>
          <p:nvPr/>
        </p:nvSpPr>
        <p:spPr>
          <a:xfrm>
            <a:off x="1993392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93392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Ideation</a:t>
            </a:r>
            <a:endParaRPr lang="en-US" sz="1400" dirty="0"/>
          </a:p>
        </p:txBody>
      </p:sp>
      <p:sp>
        <p:nvSpPr>
          <p:cNvPr id="10" name="step box Spec"/>
          <p:cNvSpPr/>
          <p:nvPr/>
        </p:nvSpPr>
        <p:spPr>
          <a:xfrm>
            <a:off x="3163824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63824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Spec</a:t>
            </a:r>
            <a:endParaRPr lang="en-US" sz="1400" dirty="0"/>
          </a:p>
        </p:txBody>
      </p:sp>
      <p:sp>
        <p:nvSpPr>
          <p:cNvPr id="12" name="step box Design"/>
          <p:cNvSpPr/>
          <p:nvPr/>
        </p:nvSpPr>
        <p:spPr>
          <a:xfrm>
            <a:off x="4334256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34256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Design</a:t>
            </a:r>
            <a:endParaRPr lang="en-US" sz="1400" dirty="0"/>
          </a:p>
        </p:txBody>
      </p:sp>
      <p:sp>
        <p:nvSpPr>
          <p:cNvPr id="14" name="step box Tasks"/>
          <p:cNvSpPr/>
          <p:nvPr/>
        </p:nvSpPr>
        <p:spPr>
          <a:xfrm>
            <a:off x="5504688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04688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Tasks</a:t>
            </a:r>
            <a:endParaRPr lang="en-US" sz="1400" dirty="0"/>
          </a:p>
        </p:txBody>
      </p:sp>
      <p:sp>
        <p:nvSpPr>
          <p:cNvPr id="16" name="step box Implement"/>
          <p:cNvSpPr/>
          <p:nvPr/>
        </p:nvSpPr>
        <p:spPr>
          <a:xfrm>
            <a:off x="6675120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75120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Implement</a:t>
            </a:r>
            <a:endParaRPr lang="en-US" sz="1400" dirty="0"/>
          </a:p>
        </p:txBody>
      </p:sp>
      <p:sp>
        <p:nvSpPr>
          <p:cNvPr id="18" name="step box Verify"/>
          <p:cNvSpPr/>
          <p:nvPr/>
        </p:nvSpPr>
        <p:spPr>
          <a:xfrm>
            <a:off x="7845552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45552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7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Verify</a:t>
            </a:r>
            <a:endParaRPr lang="en-US" sz="1400" dirty="0"/>
          </a:p>
        </p:txBody>
      </p:sp>
      <p:sp>
        <p:nvSpPr>
          <p:cNvPr id="20" name="step box Release"/>
          <p:cNvSpPr/>
          <p:nvPr/>
        </p:nvSpPr>
        <p:spPr>
          <a:xfrm>
            <a:off x="9015984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15984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8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Release</a:t>
            </a:r>
            <a:endParaRPr lang="en-US" sz="1400" dirty="0"/>
          </a:p>
        </p:txBody>
      </p:sp>
      <p:sp>
        <p:nvSpPr>
          <p:cNvPr id="22" name="step box Archive"/>
          <p:cNvSpPr/>
          <p:nvPr/>
        </p:nvSpPr>
        <p:spPr>
          <a:xfrm>
            <a:off x="10186416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186416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9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Archive</a:t>
            </a:r>
            <a:endParaRPr lang="en-US" sz="1400" dirty="0"/>
          </a:p>
        </p:txBody>
      </p:sp>
      <p:sp>
        <p:nvSpPr>
          <p:cNvPr id="24" name="card Restricciones del proyecto"/>
          <p:cNvSpPr/>
          <p:nvPr/>
        </p:nvSpPr>
        <p:spPr>
          <a:xfrm>
            <a:off x="548640" y="3383280"/>
            <a:ext cx="5440680" cy="2834640"/>
          </a:xfrm>
          <a:prstGeom prst="roundRect">
            <a:avLst>
              <a:gd name="adj" fmla="val 3226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3520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Restricciones del proyecto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3931920"/>
            <a:ext cx="5074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HTML + CSS3 + JavaScript Vanilla, abrible por file://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servidor, framework, gestor de paquetes ni recursos remotos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módulos ES, fetch ni import/export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i18n, animaciones pesadas ni persistencia</a:t>
            </a:r>
            <a:endParaRPr lang="en-US" sz="1400" dirty="0"/>
          </a:p>
        </p:txBody>
      </p:sp>
      <p:sp>
        <p:nvSpPr>
          <p:cNvPr id="27" name="card Accesibilidad, seguridad y herramientas"/>
          <p:cNvSpPr/>
          <p:nvPr/>
        </p:nvSpPr>
        <p:spPr>
          <a:xfrm>
            <a:off x="6172200" y="3383280"/>
            <a:ext cx="5440680" cy="2834640"/>
          </a:xfrm>
          <a:prstGeom prst="roundRect">
            <a:avLst>
              <a:gd name="adj" fmla="val 3226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55080" y="3520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Accesibilidad, seguridad y herramientas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355080" y="3931920"/>
            <a:ext cx="5074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Controles nativos y foco visible; el color nunca es la única señal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Datos insertados como texto, no como HTML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OpenSpec (spec-driven), DESIGN.md y evidencia en .omo/evidence/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Parte 2 · El caso: Tabla Periódica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El change build-periodic-table-web-app recorrido paso a paso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 1 · Discovery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2107692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21076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DISCOVERY READY</a:t>
            </a:r>
            <a:endParaRPr lang="en-US" sz="1300" dirty="0"/>
          </a:p>
        </p:txBody>
      </p:sp>
      <p:sp>
        <p:nvSpPr>
          <p:cNvPr id="6" name="card Problema"/>
          <p:cNvSpPr/>
          <p:nvPr/>
        </p:nvSpPr>
        <p:spPr>
          <a:xfrm>
            <a:off x="548640" y="1828800"/>
            <a:ext cx="3566160" cy="2194560"/>
          </a:xfrm>
          <a:prstGeom prst="roundRect">
            <a:avLst>
              <a:gd name="adj" fmla="val 4167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Problema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774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hay implementación. Se quiere consultar elementos rápido, sin instalar ni levantar infraestructura.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4133088" y="2926080"/>
            <a:ext cx="14630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card Necesidades"/>
          <p:cNvSpPr/>
          <p:nvPr/>
        </p:nvSpPr>
        <p:spPr>
          <a:xfrm>
            <a:off x="4297680" y="1828800"/>
            <a:ext cx="3566160" cy="2194560"/>
          </a:xfrm>
          <a:prstGeom prst="roundRect">
            <a:avLst>
              <a:gd name="adj" fmla="val 4167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8056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Necesidades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23774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118 elementos en su posición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Buscar por nombre, símbolo y nº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Detalle sin alterar la tabla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Experiencia visual atractiva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7882128" y="2926080"/>
            <a:ext cx="14630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card Resultado esperado"/>
          <p:cNvSpPr/>
          <p:nvPr/>
        </p:nvSpPr>
        <p:spPr>
          <a:xfrm>
            <a:off x="8046720" y="1828800"/>
            <a:ext cx="3566160" cy="2194560"/>
          </a:xfrm>
          <a:prstGeom prst="roundRect">
            <a:avLst>
              <a:gd name="adj" fmla="val 4167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Resultado esperado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23774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archivo local que se abre y funciona de inmediato, incluso offline.</a:t>
            </a:r>
            <a:endParaRPr lang="en-US" sz="1400" dirty="0"/>
          </a:p>
        </p:txBody>
      </p:sp>
      <p:sp>
        <p:nvSpPr>
          <p:cNvPr id="17" name="card Por qué este proyecto"/>
          <p:cNvSpPr/>
          <p:nvPr/>
        </p:nvSpPr>
        <p:spPr>
          <a:xfrm>
            <a:off x="548640" y="4297680"/>
            <a:ext cx="5440680" cy="1920240"/>
          </a:xfrm>
          <a:prstGeom prst="roundRect">
            <a:avLst>
              <a:gd name="adj" fmla="val 4762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434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Por qué este proyecto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84632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Familiar: todos entienden una tabla de elementos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Permite iterar feature a feature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foco es el flujo OpenSpec</a:t>
            </a:r>
            <a:endParaRPr lang="en-US" sz="1400" dirty="0"/>
          </a:p>
        </p:txBody>
      </p:sp>
      <p:sp>
        <p:nvSpPr>
          <p:cNvPr id="20" name="card Pregunta abierta"/>
          <p:cNvSpPr/>
          <p:nvPr/>
        </p:nvSpPr>
        <p:spPr>
          <a:xfrm>
            <a:off x="6172200" y="4297680"/>
            <a:ext cx="5440680" cy="1920240"/>
          </a:xfrm>
          <a:prstGeom prst="roundRect">
            <a:avLst>
              <a:gd name="adj" fmla="val 4762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55080" y="4434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Pregunta abierta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484632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datos adicionales mostrar por elemento? Resuelta en diseño: electronegatividad y configuración electrónica.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 2 · Ideation: cinco alternativas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3054096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SOLUTION DIRECTION READY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846320"/>
                <a:gridCol w="155448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Alternativa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Decisión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Motivo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HTML único con CSS y JS embebidos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Descartada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Dificulta evolución y revisión por capas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index.html + styles.css + data/elements.js + script.js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Elegida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Separa presentación, datos y comportamiento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Filtrar reconstruyendo la tabla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Descartada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Quitar nodos provoca saltos de geometría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Marcar coincidencias con clases CSS sobre celdas fijas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Elegida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 tabla no se mueve: solo cambian estados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Datos vía fetch o módulos 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Descartada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Rompe la apertura por file://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Supuestos: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118 elementos caben en un único array local; el scroll horizontal es aceptable en pantallas estrechas.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Proposal y Spec: de la idea al contrato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3369564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33695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PROPOSAL READY → SPEC READY</a:t>
            </a:r>
            <a:endParaRPr lang="en-US" sz="1300" dirty="0"/>
          </a:p>
        </p:txBody>
      </p:sp>
      <p:sp>
        <p:nvSpPr>
          <p:cNvPr id="6" name="capability periodic-table-display"/>
          <p:cNvSpPr/>
          <p:nvPr/>
        </p:nvSpPr>
        <p:spPr>
          <a:xfrm>
            <a:off x="548640" y="1828800"/>
            <a:ext cx="356616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periodic-table-display</a:t>
            </a:r>
            <a:endParaRPr lang="en-US" sz="1400" dirty="0"/>
          </a:p>
        </p:txBody>
      </p:sp>
      <p:sp>
        <p:nvSpPr>
          <p:cNvPr id="8" name="capability element-search"/>
          <p:cNvSpPr/>
          <p:nvPr/>
        </p:nvSpPr>
        <p:spPr>
          <a:xfrm>
            <a:off x="4297680" y="1828800"/>
            <a:ext cx="356616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9768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element-search</a:t>
            </a:r>
            <a:endParaRPr lang="en-US" sz="1400" dirty="0"/>
          </a:p>
        </p:txBody>
      </p:sp>
      <p:sp>
        <p:nvSpPr>
          <p:cNvPr id="10" name="capability element-details-panel"/>
          <p:cNvSpPr/>
          <p:nvPr/>
        </p:nvSpPr>
        <p:spPr>
          <a:xfrm>
            <a:off x="8046720" y="1828800"/>
            <a:ext cx="356616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element-details-panel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Requirement (SHALL)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Escenarios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Complete periodic table layout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Tabla completa · series internas separadas · categorías distinguibles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Local static operation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Apertura por file:// sin peticiones de red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Element search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Por nombre · por símbolo o número · sin resultados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Element selection and details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Seleccionar muestra detalle · layout estable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Keyboard and assistive interaction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Navegar con teclado · estado sin depender del color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callout Inconsistencia conocida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53492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Inconsistencia conocida: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spec dice 14 elementos por serie; los rangos 57–71 y 89–103 tienen 15. Además, la propuesta cita app.js y se implementó script.js.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 4 · Design: arquitectura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1792224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DESIGN READY</a:t>
            </a:r>
            <a:endParaRPr lang="en-US" sz="1300" dirty="0"/>
          </a:p>
        </p:txBody>
      </p:sp>
      <p:sp>
        <p:nvSpPr>
          <p:cNvPr id="6" name="index.html"/>
          <p:cNvSpPr/>
          <p:nvPr/>
        </p:nvSpPr>
        <p:spPr>
          <a:xfrm>
            <a:off x="548640" y="2743200"/>
            <a:ext cx="182880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743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600" dirty="0"/>
          </a:p>
        </p:txBody>
      </p:sp>
      <p:sp>
        <p:nvSpPr>
          <p:cNvPr id="8" name="styles.css"/>
          <p:cNvSpPr/>
          <p:nvPr/>
        </p:nvSpPr>
        <p:spPr>
          <a:xfrm>
            <a:off x="3383280" y="182880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20440" y="19019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diseño, tokens, cuadrícula</a:t>
            </a:r>
            <a:endParaRPr lang="en-US" sz="1400" dirty="0"/>
          </a:p>
        </p:txBody>
      </p:sp>
      <p:sp>
        <p:nvSpPr>
          <p:cNvPr id="10" name="arrow styles.css"/>
          <p:cNvSpPr/>
          <p:nvPr/>
        </p:nvSpPr>
        <p:spPr>
          <a:xfrm flipV="1">
            <a:off x="2423160" y="2194560"/>
            <a:ext cx="914400" cy="9601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data/elements.js"/>
          <p:cNvSpPr/>
          <p:nvPr/>
        </p:nvSpPr>
        <p:spPr>
          <a:xfrm>
            <a:off x="3383280" y="274320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28163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data/elements.js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array global de 118 elementos</a:t>
            </a:r>
            <a:endParaRPr lang="en-US" sz="1400" dirty="0"/>
          </a:p>
        </p:txBody>
      </p:sp>
      <p:sp>
        <p:nvSpPr>
          <p:cNvPr id="13" name="arrow data/elements.js"/>
          <p:cNvSpPr/>
          <p:nvPr/>
        </p:nvSpPr>
        <p:spPr>
          <a:xfrm flipV="1">
            <a:off x="2423160" y="3108960"/>
            <a:ext cx="914400" cy="457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cript.js"/>
          <p:cNvSpPr/>
          <p:nvPr/>
        </p:nvSpPr>
        <p:spPr>
          <a:xfrm>
            <a:off x="3383280" y="365760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20440" y="37307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render, búsqueda, selección</a:t>
            </a:r>
            <a:endParaRPr lang="en-US" sz="1400" dirty="0"/>
          </a:p>
        </p:txBody>
      </p:sp>
      <p:sp>
        <p:nvSpPr>
          <p:cNvPr id="16" name="arrow script.js"/>
          <p:cNvSpPr/>
          <p:nvPr/>
        </p:nvSpPr>
        <p:spPr>
          <a:xfrm>
            <a:off x="2423160" y="3154680"/>
            <a:ext cx="914400" cy="8686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callout file:// sin servidor"/>
          <p:cNvSpPr/>
          <p:nvPr/>
        </p:nvSpPr>
        <p:spPr>
          <a:xfrm>
            <a:off x="548640" y="4663440"/>
            <a:ext cx="5577840" cy="731520"/>
          </a:xfrm>
          <a:prstGeom prst="roundRect">
            <a:avLst>
              <a:gd name="adj" fmla="val 12500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file:// sin servidor: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script clásico + array global, sin módulos ni fetch.</a:t>
            </a:r>
            <a:endParaRPr lang="en-US" sz="1400" dirty="0"/>
          </a:p>
        </p:txBody>
      </p:sp>
      <p:sp>
        <p:nvSpPr>
          <p:cNvPr id="19" name="card Decisiones clave"/>
          <p:cNvSpPr/>
          <p:nvPr/>
        </p:nvSpPr>
        <p:spPr>
          <a:xfrm>
            <a:off x="6400800" y="1828800"/>
            <a:ext cx="5212080" cy="3474720"/>
          </a:xfrm>
          <a:prstGeom prst="roundRect">
            <a:avLst>
              <a:gd name="adj" fmla="val 2632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Decisiones clave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237744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Cuadrícula CSS de 18 columnas con celdas de tamaño fijo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Búsqueda por estados match/dimmed, sin reconstruir el DOM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Normalización sin mayúsculas ni acentos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Celdas como button con nombre accesible y aria-pressed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Contenido insertado como texto</a:t>
            </a:r>
            <a:endParaRPr lang="en-US" sz="1400" dirty="0"/>
          </a:p>
        </p:txBody>
      </p:sp>
      <p:sp>
        <p:nvSpPr>
          <p:cNvPr id="22" name="callout Riesgos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Riesgos: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mantener 118 registros · ancho en móviles · contraste de pasteles · compatibilidad file:// · rendimiento del resaltado.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Design: la cuadrícula de 18 columnas</a:t>
            </a:r>
            <a:endParaRPr lang="en-US" sz="3600" dirty="0"/>
          </a:p>
        </p:txBody>
      </p:sp>
      <p:sp>
        <p:nvSpPr>
          <p:cNvPr id="4" name="cell"/>
          <p:cNvSpPr/>
          <p:nvPr/>
        </p:nvSpPr>
        <p:spPr>
          <a:xfrm>
            <a:off x="548640" y="1463040"/>
            <a:ext cx="393192" cy="393192"/>
          </a:xfrm>
          <a:prstGeom prst="rect">
            <a:avLst/>
          </a:prstGeom>
          <a:solidFill>
            <a:schemeClr val="accent4">
              <a:alpha val="45000"/>
            </a:schemeClr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" name="cell"/>
          <p:cNvSpPr/>
          <p:nvPr/>
        </p:nvSpPr>
        <p:spPr>
          <a:xfrm>
            <a:off x="7854696" y="1463040"/>
            <a:ext cx="393192" cy="393192"/>
          </a:xfrm>
          <a:prstGeom prst="rect">
            <a:avLst/>
          </a:prstGeom>
          <a:solidFill>
            <a:schemeClr val="accent5">
              <a:alpha val="45000"/>
            </a:schemeClr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6" name="cell"/>
          <p:cNvSpPr/>
          <p:nvPr/>
        </p:nvSpPr>
        <p:spPr>
          <a:xfrm>
            <a:off x="548640" y="1892808"/>
            <a:ext cx="393192" cy="393192"/>
          </a:xfrm>
          <a:prstGeom prst="rect">
            <a:avLst/>
          </a:prstGeom>
          <a:solidFill>
            <a:schemeClr val="accent4">
              <a:alpha val="45000"/>
            </a:schemeClr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7" name="cell"/>
          <p:cNvSpPr/>
          <p:nvPr/>
        </p:nvSpPr>
        <p:spPr>
          <a:xfrm>
            <a:off x="978408" y="1892808"/>
            <a:ext cx="393192" cy="393192"/>
          </a:xfrm>
          <a:prstGeom prst="rect">
            <a:avLst/>
          </a:prstGeom>
          <a:solidFill>
            <a:schemeClr val="accent4">
              <a:alpha val="45000"/>
            </a:schemeClr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" name="cell"/>
          <p:cNvSpPr/>
          <p:nvPr/>
        </p:nvSpPr>
        <p:spPr>
          <a:xfrm>
            <a:off x="5705856" y="1892808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9" name="cell"/>
          <p:cNvSpPr/>
          <p:nvPr/>
        </p:nvSpPr>
        <p:spPr>
          <a:xfrm>
            <a:off x="6135624" y="1892808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0" name="cell"/>
          <p:cNvSpPr/>
          <p:nvPr/>
        </p:nvSpPr>
        <p:spPr>
          <a:xfrm>
            <a:off x="6565392" y="1892808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1" name="cell"/>
          <p:cNvSpPr/>
          <p:nvPr/>
        </p:nvSpPr>
        <p:spPr>
          <a:xfrm>
            <a:off x="6995160" y="1892808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2" name="cell"/>
          <p:cNvSpPr/>
          <p:nvPr/>
        </p:nvSpPr>
        <p:spPr>
          <a:xfrm>
            <a:off x="7424928" y="1892808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3" name="cell"/>
          <p:cNvSpPr/>
          <p:nvPr/>
        </p:nvSpPr>
        <p:spPr>
          <a:xfrm>
            <a:off x="7854696" y="1892808"/>
            <a:ext cx="393192" cy="393192"/>
          </a:xfrm>
          <a:prstGeom prst="rect">
            <a:avLst/>
          </a:prstGeom>
          <a:solidFill>
            <a:schemeClr val="accent5">
              <a:alpha val="45000"/>
            </a:schemeClr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4" name="cell"/>
          <p:cNvSpPr/>
          <p:nvPr/>
        </p:nvSpPr>
        <p:spPr>
          <a:xfrm>
            <a:off x="548640" y="2322576"/>
            <a:ext cx="393192" cy="393192"/>
          </a:xfrm>
          <a:prstGeom prst="rect">
            <a:avLst/>
          </a:prstGeom>
          <a:solidFill>
            <a:schemeClr val="accent4">
              <a:alpha val="45000"/>
            </a:schemeClr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5" name="cell"/>
          <p:cNvSpPr/>
          <p:nvPr/>
        </p:nvSpPr>
        <p:spPr>
          <a:xfrm>
            <a:off x="978408" y="2322576"/>
            <a:ext cx="393192" cy="393192"/>
          </a:xfrm>
          <a:prstGeom prst="rect">
            <a:avLst/>
          </a:prstGeom>
          <a:solidFill>
            <a:schemeClr val="accent4">
              <a:alpha val="45000"/>
            </a:schemeClr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6" name="cell"/>
          <p:cNvSpPr/>
          <p:nvPr/>
        </p:nvSpPr>
        <p:spPr>
          <a:xfrm>
            <a:off x="5705856" y="2322576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7" name="cell"/>
          <p:cNvSpPr/>
          <p:nvPr/>
        </p:nvSpPr>
        <p:spPr>
          <a:xfrm>
            <a:off x="6135624" y="2322576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8" name="cell"/>
          <p:cNvSpPr/>
          <p:nvPr/>
        </p:nvSpPr>
        <p:spPr>
          <a:xfrm>
            <a:off x="6565392" y="2322576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9" name="cell"/>
          <p:cNvSpPr/>
          <p:nvPr/>
        </p:nvSpPr>
        <p:spPr>
          <a:xfrm>
            <a:off x="6995160" y="2322576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0" name="cell"/>
          <p:cNvSpPr/>
          <p:nvPr/>
        </p:nvSpPr>
        <p:spPr>
          <a:xfrm>
            <a:off x="7424928" y="2322576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1" name="cell"/>
          <p:cNvSpPr/>
          <p:nvPr/>
        </p:nvSpPr>
        <p:spPr>
          <a:xfrm>
            <a:off x="7854696" y="2322576"/>
            <a:ext cx="393192" cy="393192"/>
          </a:xfrm>
          <a:prstGeom prst="rect">
            <a:avLst/>
          </a:prstGeom>
          <a:solidFill>
            <a:schemeClr val="accent5">
              <a:alpha val="45000"/>
            </a:schemeClr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2" name="cell"/>
          <p:cNvSpPr/>
          <p:nvPr/>
        </p:nvSpPr>
        <p:spPr>
          <a:xfrm>
            <a:off x="548640" y="2752344"/>
            <a:ext cx="393192" cy="393192"/>
          </a:xfrm>
          <a:prstGeom prst="rect">
            <a:avLst/>
          </a:prstGeom>
          <a:solidFill>
            <a:schemeClr val="accent4">
              <a:alpha val="45000"/>
            </a:schemeClr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3" name="cell"/>
          <p:cNvSpPr/>
          <p:nvPr/>
        </p:nvSpPr>
        <p:spPr>
          <a:xfrm>
            <a:off x="978408" y="2752344"/>
            <a:ext cx="393192" cy="393192"/>
          </a:xfrm>
          <a:prstGeom prst="rect">
            <a:avLst/>
          </a:prstGeom>
          <a:solidFill>
            <a:schemeClr val="accent4">
              <a:alpha val="45000"/>
            </a:schemeClr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4" name="cell"/>
          <p:cNvSpPr/>
          <p:nvPr/>
        </p:nvSpPr>
        <p:spPr>
          <a:xfrm>
            <a:off x="1408176" y="2752344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5" name="cell"/>
          <p:cNvSpPr/>
          <p:nvPr/>
        </p:nvSpPr>
        <p:spPr>
          <a:xfrm>
            <a:off x="1837944" y="2752344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6" name="cell"/>
          <p:cNvSpPr/>
          <p:nvPr/>
        </p:nvSpPr>
        <p:spPr>
          <a:xfrm>
            <a:off x="2267712" y="2752344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7" name="cell"/>
          <p:cNvSpPr/>
          <p:nvPr/>
        </p:nvSpPr>
        <p:spPr>
          <a:xfrm>
            <a:off x="2697480" y="2752344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8" name="cell"/>
          <p:cNvSpPr/>
          <p:nvPr/>
        </p:nvSpPr>
        <p:spPr>
          <a:xfrm>
            <a:off x="3127248" y="2752344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9" name="cell"/>
          <p:cNvSpPr/>
          <p:nvPr/>
        </p:nvSpPr>
        <p:spPr>
          <a:xfrm>
            <a:off x="3557016" y="2752344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0" name="cell"/>
          <p:cNvSpPr/>
          <p:nvPr/>
        </p:nvSpPr>
        <p:spPr>
          <a:xfrm>
            <a:off x="3986784" y="2752344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1" name="cell"/>
          <p:cNvSpPr/>
          <p:nvPr/>
        </p:nvSpPr>
        <p:spPr>
          <a:xfrm>
            <a:off x="4416552" y="2752344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2" name="cell"/>
          <p:cNvSpPr/>
          <p:nvPr/>
        </p:nvSpPr>
        <p:spPr>
          <a:xfrm>
            <a:off x="4846320" y="2752344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3" name="cell"/>
          <p:cNvSpPr/>
          <p:nvPr/>
        </p:nvSpPr>
        <p:spPr>
          <a:xfrm>
            <a:off x="5276088" y="2752344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4" name="cell"/>
          <p:cNvSpPr/>
          <p:nvPr/>
        </p:nvSpPr>
        <p:spPr>
          <a:xfrm>
            <a:off x="5705856" y="2752344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5" name="cell"/>
          <p:cNvSpPr/>
          <p:nvPr/>
        </p:nvSpPr>
        <p:spPr>
          <a:xfrm>
            <a:off x="6135624" y="2752344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6" name="cell"/>
          <p:cNvSpPr/>
          <p:nvPr/>
        </p:nvSpPr>
        <p:spPr>
          <a:xfrm>
            <a:off x="6565392" y="2752344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7" name="cell"/>
          <p:cNvSpPr/>
          <p:nvPr/>
        </p:nvSpPr>
        <p:spPr>
          <a:xfrm>
            <a:off x="6995160" y="2752344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8" name="cell"/>
          <p:cNvSpPr/>
          <p:nvPr/>
        </p:nvSpPr>
        <p:spPr>
          <a:xfrm>
            <a:off x="7424928" y="2752344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9" name="cell"/>
          <p:cNvSpPr/>
          <p:nvPr/>
        </p:nvSpPr>
        <p:spPr>
          <a:xfrm>
            <a:off x="7854696" y="2752344"/>
            <a:ext cx="393192" cy="393192"/>
          </a:xfrm>
          <a:prstGeom prst="rect">
            <a:avLst/>
          </a:prstGeom>
          <a:solidFill>
            <a:schemeClr val="accent5">
              <a:alpha val="45000"/>
            </a:schemeClr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0" name="cell"/>
          <p:cNvSpPr/>
          <p:nvPr/>
        </p:nvSpPr>
        <p:spPr>
          <a:xfrm>
            <a:off x="548640" y="3182112"/>
            <a:ext cx="393192" cy="393192"/>
          </a:xfrm>
          <a:prstGeom prst="rect">
            <a:avLst/>
          </a:prstGeom>
          <a:solidFill>
            <a:schemeClr val="accent4">
              <a:alpha val="45000"/>
            </a:schemeClr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1" name="cell"/>
          <p:cNvSpPr/>
          <p:nvPr/>
        </p:nvSpPr>
        <p:spPr>
          <a:xfrm>
            <a:off x="978408" y="3182112"/>
            <a:ext cx="393192" cy="393192"/>
          </a:xfrm>
          <a:prstGeom prst="rect">
            <a:avLst/>
          </a:prstGeom>
          <a:solidFill>
            <a:schemeClr val="accent4">
              <a:alpha val="45000"/>
            </a:schemeClr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2" name="cell"/>
          <p:cNvSpPr/>
          <p:nvPr/>
        </p:nvSpPr>
        <p:spPr>
          <a:xfrm>
            <a:off x="1408176" y="3182112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3" name="cell"/>
          <p:cNvSpPr/>
          <p:nvPr/>
        </p:nvSpPr>
        <p:spPr>
          <a:xfrm>
            <a:off x="1837944" y="3182112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4" name="cell"/>
          <p:cNvSpPr/>
          <p:nvPr/>
        </p:nvSpPr>
        <p:spPr>
          <a:xfrm>
            <a:off x="2267712" y="3182112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5" name="cell"/>
          <p:cNvSpPr/>
          <p:nvPr/>
        </p:nvSpPr>
        <p:spPr>
          <a:xfrm>
            <a:off x="2697480" y="3182112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6" name="cell"/>
          <p:cNvSpPr/>
          <p:nvPr/>
        </p:nvSpPr>
        <p:spPr>
          <a:xfrm>
            <a:off x="3127248" y="3182112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7" name="cell"/>
          <p:cNvSpPr/>
          <p:nvPr/>
        </p:nvSpPr>
        <p:spPr>
          <a:xfrm>
            <a:off x="3557016" y="3182112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8" name="cell"/>
          <p:cNvSpPr/>
          <p:nvPr/>
        </p:nvSpPr>
        <p:spPr>
          <a:xfrm>
            <a:off x="3986784" y="3182112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9" name="cell"/>
          <p:cNvSpPr/>
          <p:nvPr/>
        </p:nvSpPr>
        <p:spPr>
          <a:xfrm>
            <a:off x="4416552" y="3182112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50" name="cell"/>
          <p:cNvSpPr/>
          <p:nvPr/>
        </p:nvSpPr>
        <p:spPr>
          <a:xfrm>
            <a:off x="4846320" y="3182112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51" name="cell"/>
          <p:cNvSpPr/>
          <p:nvPr/>
        </p:nvSpPr>
        <p:spPr>
          <a:xfrm>
            <a:off x="5276088" y="3182112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52" name="cell"/>
          <p:cNvSpPr/>
          <p:nvPr/>
        </p:nvSpPr>
        <p:spPr>
          <a:xfrm>
            <a:off x="5705856" y="3182112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3" name="cell"/>
          <p:cNvSpPr/>
          <p:nvPr/>
        </p:nvSpPr>
        <p:spPr>
          <a:xfrm>
            <a:off x="6135624" y="3182112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4" name="cell"/>
          <p:cNvSpPr/>
          <p:nvPr/>
        </p:nvSpPr>
        <p:spPr>
          <a:xfrm>
            <a:off x="6565392" y="3182112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5" name="cell"/>
          <p:cNvSpPr/>
          <p:nvPr/>
        </p:nvSpPr>
        <p:spPr>
          <a:xfrm>
            <a:off x="6995160" y="3182112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6" name="cell"/>
          <p:cNvSpPr/>
          <p:nvPr/>
        </p:nvSpPr>
        <p:spPr>
          <a:xfrm>
            <a:off x="7424928" y="3182112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7" name="cell"/>
          <p:cNvSpPr/>
          <p:nvPr/>
        </p:nvSpPr>
        <p:spPr>
          <a:xfrm>
            <a:off x="7854696" y="3182112"/>
            <a:ext cx="393192" cy="393192"/>
          </a:xfrm>
          <a:prstGeom prst="rect">
            <a:avLst/>
          </a:prstGeom>
          <a:solidFill>
            <a:schemeClr val="accent5">
              <a:alpha val="45000"/>
            </a:schemeClr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58" name="cell"/>
          <p:cNvSpPr/>
          <p:nvPr/>
        </p:nvSpPr>
        <p:spPr>
          <a:xfrm>
            <a:off x="548640" y="3611880"/>
            <a:ext cx="393192" cy="393192"/>
          </a:xfrm>
          <a:prstGeom prst="rect">
            <a:avLst/>
          </a:prstGeom>
          <a:solidFill>
            <a:schemeClr val="accent4">
              <a:alpha val="45000"/>
            </a:schemeClr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9" name="cell"/>
          <p:cNvSpPr/>
          <p:nvPr/>
        </p:nvSpPr>
        <p:spPr>
          <a:xfrm>
            <a:off x="978408" y="3611880"/>
            <a:ext cx="393192" cy="393192"/>
          </a:xfrm>
          <a:prstGeom prst="rect">
            <a:avLst/>
          </a:prstGeom>
          <a:solidFill>
            <a:schemeClr val="accent4">
              <a:alpha val="45000"/>
            </a:schemeClr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0" name="cell"/>
          <p:cNvSpPr/>
          <p:nvPr/>
        </p:nvSpPr>
        <p:spPr>
          <a:xfrm>
            <a:off x="1408176" y="3611880"/>
            <a:ext cx="393192" cy="3931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61" name="cell"/>
          <p:cNvSpPr/>
          <p:nvPr/>
        </p:nvSpPr>
        <p:spPr>
          <a:xfrm>
            <a:off x="1837944" y="3611880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2" name="cell"/>
          <p:cNvSpPr/>
          <p:nvPr/>
        </p:nvSpPr>
        <p:spPr>
          <a:xfrm>
            <a:off x="2267712" y="3611880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3" name="cell"/>
          <p:cNvSpPr/>
          <p:nvPr/>
        </p:nvSpPr>
        <p:spPr>
          <a:xfrm>
            <a:off x="2697480" y="3611880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4" name="cell"/>
          <p:cNvSpPr/>
          <p:nvPr/>
        </p:nvSpPr>
        <p:spPr>
          <a:xfrm>
            <a:off x="3127248" y="3611880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5" name="cell"/>
          <p:cNvSpPr/>
          <p:nvPr/>
        </p:nvSpPr>
        <p:spPr>
          <a:xfrm>
            <a:off x="3557016" y="3611880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6" name="cell"/>
          <p:cNvSpPr/>
          <p:nvPr/>
        </p:nvSpPr>
        <p:spPr>
          <a:xfrm>
            <a:off x="3986784" y="3611880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7" name="cell"/>
          <p:cNvSpPr/>
          <p:nvPr/>
        </p:nvSpPr>
        <p:spPr>
          <a:xfrm>
            <a:off x="4416552" y="3611880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8" name="cell"/>
          <p:cNvSpPr/>
          <p:nvPr/>
        </p:nvSpPr>
        <p:spPr>
          <a:xfrm>
            <a:off x="4846320" y="3611880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9" name="cell"/>
          <p:cNvSpPr/>
          <p:nvPr/>
        </p:nvSpPr>
        <p:spPr>
          <a:xfrm>
            <a:off x="5276088" y="3611880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70" name="cell"/>
          <p:cNvSpPr/>
          <p:nvPr/>
        </p:nvSpPr>
        <p:spPr>
          <a:xfrm>
            <a:off x="5705856" y="3611880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71" name="cell"/>
          <p:cNvSpPr/>
          <p:nvPr/>
        </p:nvSpPr>
        <p:spPr>
          <a:xfrm>
            <a:off x="6135624" y="3611880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72" name="cell"/>
          <p:cNvSpPr/>
          <p:nvPr/>
        </p:nvSpPr>
        <p:spPr>
          <a:xfrm>
            <a:off x="6565392" y="3611880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73" name="cell"/>
          <p:cNvSpPr/>
          <p:nvPr/>
        </p:nvSpPr>
        <p:spPr>
          <a:xfrm>
            <a:off x="6995160" y="3611880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74" name="cell"/>
          <p:cNvSpPr/>
          <p:nvPr/>
        </p:nvSpPr>
        <p:spPr>
          <a:xfrm>
            <a:off x="7424928" y="3611880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75" name="cell"/>
          <p:cNvSpPr/>
          <p:nvPr/>
        </p:nvSpPr>
        <p:spPr>
          <a:xfrm>
            <a:off x="7854696" y="3611880"/>
            <a:ext cx="393192" cy="393192"/>
          </a:xfrm>
          <a:prstGeom prst="rect">
            <a:avLst/>
          </a:prstGeom>
          <a:solidFill>
            <a:schemeClr val="accent5">
              <a:alpha val="45000"/>
            </a:schemeClr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76" name="cell"/>
          <p:cNvSpPr/>
          <p:nvPr/>
        </p:nvSpPr>
        <p:spPr>
          <a:xfrm>
            <a:off x="548640" y="4041648"/>
            <a:ext cx="393192" cy="393192"/>
          </a:xfrm>
          <a:prstGeom prst="rect">
            <a:avLst/>
          </a:prstGeom>
          <a:solidFill>
            <a:schemeClr val="accent4">
              <a:alpha val="45000"/>
            </a:schemeClr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77" name="cell"/>
          <p:cNvSpPr/>
          <p:nvPr/>
        </p:nvSpPr>
        <p:spPr>
          <a:xfrm>
            <a:off x="978408" y="4041648"/>
            <a:ext cx="393192" cy="393192"/>
          </a:xfrm>
          <a:prstGeom prst="rect">
            <a:avLst/>
          </a:prstGeom>
          <a:solidFill>
            <a:schemeClr val="accent4">
              <a:alpha val="45000"/>
            </a:schemeClr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78" name="cell"/>
          <p:cNvSpPr/>
          <p:nvPr/>
        </p:nvSpPr>
        <p:spPr>
          <a:xfrm>
            <a:off x="1408176" y="4041648"/>
            <a:ext cx="393192" cy="3931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79" name="cell"/>
          <p:cNvSpPr/>
          <p:nvPr/>
        </p:nvSpPr>
        <p:spPr>
          <a:xfrm>
            <a:off x="1837944" y="4041648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0" name="cell"/>
          <p:cNvSpPr/>
          <p:nvPr/>
        </p:nvSpPr>
        <p:spPr>
          <a:xfrm>
            <a:off x="2267712" y="4041648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1" name="cell"/>
          <p:cNvSpPr/>
          <p:nvPr/>
        </p:nvSpPr>
        <p:spPr>
          <a:xfrm>
            <a:off x="2697480" y="4041648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2" name="cell"/>
          <p:cNvSpPr/>
          <p:nvPr/>
        </p:nvSpPr>
        <p:spPr>
          <a:xfrm>
            <a:off x="3127248" y="4041648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3" name="cell"/>
          <p:cNvSpPr/>
          <p:nvPr/>
        </p:nvSpPr>
        <p:spPr>
          <a:xfrm>
            <a:off x="3557016" y="4041648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4" name="cell"/>
          <p:cNvSpPr/>
          <p:nvPr/>
        </p:nvSpPr>
        <p:spPr>
          <a:xfrm>
            <a:off x="3986784" y="4041648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5" name="cell"/>
          <p:cNvSpPr/>
          <p:nvPr/>
        </p:nvSpPr>
        <p:spPr>
          <a:xfrm>
            <a:off x="4416552" y="4041648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6" name="cell"/>
          <p:cNvSpPr/>
          <p:nvPr/>
        </p:nvSpPr>
        <p:spPr>
          <a:xfrm>
            <a:off x="4846320" y="4041648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7" name="cell"/>
          <p:cNvSpPr/>
          <p:nvPr/>
        </p:nvSpPr>
        <p:spPr>
          <a:xfrm>
            <a:off x="5276088" y="4041648"/>
            <a:ext cx="393192" cy="393192"/>
          </a:xfrm>
          <a:prstGeom prst="rect">
            <a:avLst/>
          </a:prstGeom>
          <a:solidFill>
            <a:schemeClr val="accent2">
              <a:alpha val="45000"/>
            </a:schemeClr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8" name="cell"/>
          <p:cNvSpPr/>
          <p:nvPr/>
        </p:nvSpPr>
        <p:spPr>
          <a:xfrm>
            <a:off x="5705856" y="4041648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89" name="cell"/>
          <p:cNvSpPr/>
          <p:nvPr/>
        </p:nvSpPr>
        <p:spPr>
          <a:xfrm>
            <a:off x="6135624" y="4041648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90" name="cell"/>
          <p:cNvSpPr/>
          <p:nvPr/>
        </p:nvSpPr>
        <p:spPr>
          <a:xfrm>
            <a:off x="6565392" y="4041648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91" name="cell"/>
          <p:cNvSpPr/>
          <p:nvPr/>
        </p:nvSpPr>
        <p:spPr>
          <a:xfrm>
            <a:off x="6995160" y="4041648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92" name="cell"/>
          <p:cNvSpPr/>
          <p:nvPr/>
        </p:nvSpPr>
        <p:spPr>
          <a:xfrm>
            <a:off x="7424928" y="4041648"/>
            <a:ext cx="393192" cy="393192"/>
          </a:xfrm>
          <a:prstGeom prst="rect">
            <a:avLst/>
          </a:prstGeom>
          <a:solidFill>
            <a:schemeClr val="accent3">
              <a:alpha val="45000"/>
            </a:schemeClr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93" name="cell"/>
          <p:cNvSpPr/>
          <p:nvPr/>
        </p:nvSpPr>
        <p:spPr>
          <a:xfrm>
            <a:off x="7854696" y="4041648"/>
            <a:ext cx="393192" cy="393192"/>
          </a:xfrm>
          <a:prstGeom prst="rect">
            <a:avLst/>
          </a:prstGeom>
          <a:solidFill>
            <a:schemeClr val="accent5">
              <a:alpha val="45000"/>
            </a:schemeClr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94" name="cell"/>
          <p:cNvSpPr/>
          <p:nvPr/>
        </p:nvSpPr>
        <p:spPr>
          <a:xfrm>
            <a:off x="1408176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5" name="cell"/>
          <p:cNvSpPr/>
          <p:nvPr/>
        </p:nvSpPr>
        <p:spPr>
          <a:xfrm>
            <a:off x="1837944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6" name="cell"/>
          <p:cNvSpPr/>
          <p:nvPr/>
        </p:nvSpPr>
        <p:spPr>
          <a:xfrm>
            <a:off x="2267712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7" name="cell"/>
          <p:cNvSpPr/>
          <p:nvPr/>
        </p:nvSpPr>
        <p:spPr>
          <a:xfrm>
            <a:off x="2697480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8" name="cell"/>
          <p:cNvSpPr/>
          <p:nvPr/>
        </p:nvSpPr>
        <p:spPr>
          <a:xfrm>
            <a:off x="3127248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9" name="cell"/>
          <p:cNvSpPr/>
          <p:nvPr/>
        </p:nvSpPr>
        <p:spPr>
          <a:xfrm>
            <a:off x="3557016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0" name="cell"/>
          <p:cNvSpPr/>
          <p:nvPr/>
        </p:nvSpPr>
        <p:spPr>
          <a:xfrm>
            <a:off x="3986784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1" name="cell"/>
          <p:cNvSpPr/>
          <p:nvPr/>
        </p:nvSpPr>
        <p:spPr>
          <a:xfrm>
            <a:off x="4416552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2" name="cell"/>
          <p:cNvSpPr/>
          <p:nvPr/>
        </p:nvSpPr>
        <p:spPr>
          <a:xfrm>
            <a:off x="4846320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3" name="cell"/>
          <p:cNvSpPr/>
          <p:nvPr/>
        </p:nvSpPr>
        <p:spPr>
          <a:xfrm>
            <a:off x="5276088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4" name="cell"/>
          <p:cNvSpPr/>
          <p:nvPr/>
        </p:nvSpPr>
        <p:spPr>
          <a:xfrm>
            <a:off x="5705856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5" name="cell"/>
          <p:cNvSpPr/>
          <p:nvPr/>
        </p:nvSpPr>
        <p:spPr>
          <a:xfrm>
            <a:off x="6135624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6" name="cell"/>
          <p:cNvSpPr/>
          <p:nvPr/>
        </p:nvSpPr>
        <p:spPr>
          <a:xfrm>
            <a:off x="6565392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7" name="cell"/>
          <p:cNvSpPr/>
          <p:nvPr/>
        </p:nvSpPr>
        <p:spPr>
          <a:xfrm>
            <a:off x="6995160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8" name="cell"/>
          <p:cNvSpPr/>
          <p:nvPr/>
        </p:nvSpPr>
        <p:spPr>
          <a:xfrm>
            <a:off x="7424928" y="4901184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9" name="cell"/>
          <p:cNvSpPr/>
          <p:nvPr/>
        </p:nvSpPr>
        <p:spPr>
          <a:xfrm>
            <a:off x="1408176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0" name="cell"/>
          <p:cNvSpPr/>
          <p:nvPr/>
        </p:nvSpPr>
        <p:spPr>
          <a:xfrm>
            <a:off x="1837944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1" name="cell"/>
          <p:cNvSpPr/>
          <p:nvPr/>
        </p:nvSpPr>
        <p:spPr>
          <a:xfrm>
            <a:off x="2267712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2" name="cell"/>
          <p:cNvSpPr/>
          <p:nvPr/>
        </p:nvSpPr>
        <p:spPr>
          <a:xfrm>
            <a:off x="2697480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3" name="cell"/>
          <p:cNvSpPr/>
          <p:nvPr/>
        </p:nvSpPr>
        <p:spPr>
          <a:xfrm>
            <a:off x="3127248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4" name="cell"/>
          <p:cNvSpPr/>
          <p:nvPr/>
        </p:nvSpPr>
        <p:spPr>
          <a:xfrm>
            <a:off x="3557016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5" name="cell"/>
          <p:cNvSpPr/>
          <p:nvPr/>
        </p:nvSpPr>
        <p:spPr>
          <a:xfrm>
            <a:off x="3986784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6" name="cell"/>
          <p:cNvSpPr/>
          <p:nvPr/>
        </p:nvSpPr>
        <p:spPr>
          <a:xfrm>
            <a:off x="4416552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7" name="cell"/>
          <p:cNvSpPr/>
          <p:nvPr/>
        </p:nvSpPr>
        <p:spPr>
          <a:xfrm>
            <a:off x="4846320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8" name="cell"/>
          <p:cNvSpPr/>
          <p:nvPr/>
        </p:nvSpPr>
        <p:spPr>
          <a:xfrm>
            <a:off x="5276088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9" name="cell"/>
          <p:cNvSpPr/>
          <p:nvPr/>
        </p:nvSpPr>
        <p:spPr>
          <a:xfrm>
            <a:off x="5705856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0" name="cell"/>
          <p:cNvSpPr/>
          <p:nvPr/>
        </p:nvSpPr>
        <p:spPr>
          <a:xfrm>
            <a:off x="6135624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1" name="cell"/>
          <p:cNvSpPr/>
          <p:nvPr/>
        </p:nvSpPr>
        <p:spPr>
          <a:xfrm>
            <a:off x="6565392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2" name="cell"/>
          <p:cNvSpPr/>
          <p:nvPr/>
        </p:nvSpPr>
        <p:spPr>
          <a:xfrm>
            <a:off x="6995160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3" name="cell"/>
          <p:cNvSpPr/>
          <p:nvPr/>
        </p:nvSpPr>
        <p:spPr>
          <a:xfrm>
            <a:off x="7424928" y="5330952"/>
            <a:ext cx="393192" cy="393192"/>
          </a:xfrm>
          <a:prstGeom prst="rect">
            <a:avLst/>
          </a:prstGeom>
          <a:solidFill>
            <a:schemeClr val="accent1">
              <a:alpha val="45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4" name="Text 121"/>
          <p:cNvSpPr txBox="1"/>
          <p:nvPr/>
        </p:nvSpPr>
        <p:spPr>
          <a:xfrm>
            <a:off x="3127248" y="4544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fila divisora</a:t>
            </a:r>
            <a:endParaRPr lang="en-US" sz="1200" dirty="0"/>
          </a:p>
        </p:txBody>
      </p:sp>
      <p:sp>
        <p:nvSpPr>
          <p:cNvPr id="125" name="card Cómo leerla"/>
          <p:cNvSpPr/>
          <p:nvPr/>
        </p:nvSpPr>
        <p:spPr>
          <a:xfrm>
            <a:off x="8503920" y="1463040"/>
            <a:ext cx="3108960" cy="4754880"/>
          </a:xfrm>
          <a:prstGeom prst="roundRect">
            <a:avLst>
              <a:gd name="adj" fmla="val 2941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868680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Cómo leerla</a:t>
            </a:r>
            <a:endParaRPr lang="en-US" sz="1800" dirty="0"/>
          </a:p>
        </p:txBody>
      </p:sp>
      <p:sp>
        <p:nvSpPr>
          <p:cNvPr id="127" name="Text 124"/>
          <p:cNvSpPr txBox="1"/>
          <p:nvPr/>
        </p:nvSpPr>
        <p:spPr>
          <a:xfrm>
            <a:off x="8686800" y="2011680"/>
            <a:ext cx="2743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Periodos 1–7 × 18 grupos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Huecos punteados en 57 y 89 apuntan a las series f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Fila divisora vacía de una celda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Lantánidos (57–71) y actínidos (89–103): 15 cada uno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Celdas fijas: nada se reescala al seleccionar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 5 · Tasks: 7 grupos trazables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2633472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IMPLEMENTATION READY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103120"/>
                <a:gridCol w="585216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Grupo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Contenido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Requisito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Estructura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index.html, styles.css, data/elements.js, script.js, enlaces locales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Local static operation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Layout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Grid 18 columnas, posición por grupo y periodo, placeholders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Complete layout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Catálogo y render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Validar 118 únicos, series separadas, leyenda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Complete layout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Buscador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Input search, filtro en tiempo real, restaurar al vaciar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Element search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Panel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Campos, clic, indicador de selección, cierre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Selection and details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Accesibilidad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Teclado, dimensiones estables, anuncios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Keyboard interaction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Verificación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file://, búsqueda, panel, f-block, responsive, contraste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Todos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Definition of Done: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todas las tareas completadas y verificadas manualmente.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 6 · Implement: poco código, bien repartido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2948940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29489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IMPLEMENTATION COMPLETE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60350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 validateCatalog()"/>
          <p:cNvSpPr/>
          <p:nvPr/>
        </p:nvSpPr>
        <p:spPr>
          <a:xfrm>
            <a:off x="6858000" y="1828800"/>
            <a:ext cx="475488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4088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validateCatalog()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040880" y="23774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Garantiza 118 elementos únicos con posiciones válidas.</a:t>
            </a:r>
            <a:endParaRPr lang="en-US" sz="1400" dirty="0"/>
          </a:p>
        </p:txBody>
      </p:sp>
      <p:sp>
        <p:nvSpPr>
          <p:cNvPr id="10" name="card createTile()"/>
          <p:cNvSpPr/>
          <p:nvPr/>
        </p:nvSpPr>
        <p:spPr>
          <a:xfrm>
            <a:off x="6858000" y="3291840"/>
            <a:ext cx="4754880" cy="1280160"/>
          </a:xfrm>
          <a:prstGeom prst="roundRect">
            <a:avLst>
              <a:gd name="adj" fmla="val 7143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40880" y="3429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createTile()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38404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Primitiva única para la tabla principal y las series f.</a:t>
            </a:r>
            <a:endParaRPr lang="en-US" sz="1400" dirty="0"/>
          </a:p>
        </p:txBody>
      </p:sp>
      <p:sp>
        <p:nvSpPr>
          <p:cNvPr id="13" name="card Sin reconstrucción"/>
          <p:cNvSpPr/>
          <p:nvPr/>
        </p:nvSpPr>
        <p:spPr>
          <a:xfrm>
            <a:off x="6858000" y="4754880"/>
            <a:ext cx="475488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040880" y="4892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Sin reconstrucción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040880" y="53035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Seleccionar y buscar solo cambian estados, no el DOM.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 7 · Verify &amp; Validate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1897380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1897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RELEASE READY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97280"/>
                <a:gridCol w="7315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Criterio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Evidencia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file:// sin red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Protocolo file:, sin recursos HTTP(S)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118 elementos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118 botones; números 1–118 únicos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Categorías pastel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categorías en leyenda y CSS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Búsqueda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oxigeno → 1 · 79 → 1 · zzzz → 0 con error explícito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Geometría estable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Tabla idéntica antes y después de seleccionar Au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Separación f-block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Fila divisora de 64 px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Overflow responsive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375 px: scroll de 1228 px dentro de 343 px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Teclado y ARIA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118 botones con nombre y aria-pressed; / enfoca la búsqueda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callout Gaps y riesgo residual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257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Gaps y riesgo residual: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 tests automatizados · capturas sin selección, búsqueda ni foco · literales 1px/2px en styles.css · capturas en /tmp que pueden perderse.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Pasos 8 y 9 · Release y Archive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4946904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RELEASE STABLE · CHANGE CLOSED: pendientes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Paso 8 · Release &amp; Operate</a:t>
            </a:r>
            <a:endParaRPr lang="en-US" sz="1800" dirty="0"/>
          </a:p>
        </p:txBody>
      </p:sp>
      <p:sp>
        <p:nvSpPr>
          <p:cNvPr id="7" name="release step"/>
          <p:cNvSpPr/>
          <p:nvPr/>
        </p:nvSpPr>
        <p:spPr>
          <a:xfrm>
            <a:off x="548640" y="2331720"/>
            <a:ext cx="5394960" cy="548640"/>
          </a:xfrm>
          <a:prstGeom prst="roundRect">
            <a:avLst>
              <a:gd name="adj" fmla="val 13333"/>
            </a:avLst>
          </a:prstGeom>
          <a:solidFill>
            <a:schemeClr val="accent2">
              <a:alpha val="13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331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Copiar ficheros</a:t>
            </a:r>
            <a:endParaRPr lang="en-US" sz="1500" dirty="0"/>
          </a:p>
        </p:txBody>
      </p:sp>
      <p:sp>
        <p:nvSpPr>
          <p:cNvPr id="9" name="arrow"/>
          <p:cNvSpPr/>
          <p:nvPr/>
        </p:nvSpPr>
        <p:spPr>
          <a:xfrm>
            <a:off x="3246120" y="2898648"/>
            <a:ext cx="0" cy="19202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release step"/>
          <p:cNvSpPr/>
          <p:nvPr/>
        </p:nvSpPr>
        <p:spPr>
          <a:xfrm>
            <a:off x="548640" y="3108960"/>
            <a:ext cx="5394960" cy="548640"/>
          </a:xfrm>
          <a:prstGeom prst="roundRect">
            <a:avLst>
              <a:gd name="adj" fmla="val 13333"/>
            </a:avLst>
          </a:prstGeom>
          <a:solidFill>
            <a:schemeClr val="accent2">
              <a:alpha val="13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08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Abrir index.html</a:t>
            </a:r>
            <a:endParaRPr lang="en-US" sz="1500" dirty="0"/>
          </a:p>
        </p:txBody>
      </p:sp>
      <p:sp>
        <p:nvSpPr>
          <p:cNvPr id="12" name="arrow"/>
          <p:cNvSpPr/>
          <p:nvPr/>
        </p:nvSpPr>
        <p:spPr>
          <a:xfrm>
            <a:off x="3246120" y="3675888"/>
            <a:ext cx="0" cy="19202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release step"/>
          <p:cNvSpPr/>
          <p:nvPr/>
        </p:nvSpPr>
        <p:spPr>
          <a:xfrm>
            <a:off x="548640" y="3886200"/>
            <a:ext cx="5394960" cy="548640"/>
          </a:xfrm>
          <a:prstGeom prst="roundRect">
            <a:avLst>
              <a:gd name="adj" fmla="val 13333"/>
            </a:avLst>
          </a:prstGeom>
          <a:solidFill>
            <a:schemeClr val="accent2">
              <a:alpha val="13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86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Local o hosting estático</a:t>
            </a:r>
            <a:endParaRPr lang="en-US" sz="1500" dirty="0"/>
          </a:p>
        </p:txBody>
      </p:sp>
      <p:sp>
        <p:nvSpPr>
          <p:cNvPr id="15" name="arrow"/>
          <p:cNvSpPr/>
          <p:nvPr/>
        </p:nvSpPr>
        <p:spPr>
          <a:xfrm>
            <a:off x="3246120" y="4453128"/>
            <a:ext cx="0" cy="19202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release step"/>
          <p:cNvSpPr/>
          <p:nvPr/>
        </p:nvSpPr>
        <p:spPr>
          <a:xfrm>
            <a:off x="548640" y="4663440"/>
            <a:ext cx="5394960" cy="548640"/>
          </a:xfrm>
          <a:prstGeom prst="roundRect">
            <a:avLst>
              <a:gd name="adj" fmla="val 13333"/>
            </a:avLst>
          </a:prstGeom>
          <a:solidFill>
            <a:schemeClr val="accent4">
              <a:alpha val="13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663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Rollback: restaurar directorio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Sin build, servidor ni variables de entorno.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Paso 9 · Archive &amp; Learn</a:t>
            </a:r>
            <a:endParaRPr lang="en-US" sz="1800" dirty="0"/>
          </a:p>
        </p:txBody>
      </p:sp>
      <p:sp>
        <p:nvSpPr>
          <p:cNvPr id="20" name="card Current truth por actualizar"/>
          <p:cNvSpPr/>
          <p:nvPr/>
        </p:nvSpPr>
        <p:spPr>
          <a:xfrm>
            <a:off x="6217920" y="2331720"/>
            <a:ext cx="5394960" cy="1828800"/>
          </a:xfrm>
          <a:prstGeom prst="roundRect">
            <a:avLst>
              <a:gd name="adj" fmla="val 5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Current truth por actualizar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28803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Archivar con /opsx:archive y sincronizar con /opsx:sync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Corregir 14 → 15 por serie en la spec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Alinear app.js → script.js</a:t>
            </a:r>
            <a:endParaRPr lang="en-US" sz="1400" dirty="0"/>
          </a:p>
        </p:txBody>
      </p:sp>
      <p:sp>
        <p:nvSpPr>
          <p:cNvPr id="23" name="card Lecciones y follow-up"/>
          <p:cNvSpPr/>
          <p:nvPr/>
        </p:nvSpPr>
        <p:spPr>
          <a:xfrm>
            <a:off x="6217920" y="4343400"/>
            <a:ext cx="5394960" cy="1920240"/>
          </a:xfrm>
          <a:prstGeom prst="roundRect">
            <a:avLst>
              <a:gd name="adj" fmla="val 4762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Lecciones y follow-up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48920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Estados visuales &gt; reconstruir el DOM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Guardar evidencia de QA en el repo, no en /tmp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Tests del catálogo y búsqueda; verificar Safari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Parte 3 · La presentación por dentro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Un único HTML con CSS y JavaScript vanilla: navegación, temas, SVG y accesibilidad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Motor de diapositivas en JS vanilla</a:t>
            </a:r>
            <a:endParaRPr lang="en-US" sz="3600" dirty="0"/>
          </a:p>
        </p:txBody>
      </p:sp>
      <p:sp>
        <p:nvSpPr>
          <p:cNvPr id="4" name="code box"/>
          <p:cNvSpPr/>
          <p:nvPr/>
        </p:nvSpPr>
        <p:spPr>
          <a:xfrm>
            <a:off x="548640" y="1463040"/>
            <a:ext cx="5943600" cy="4754880"/>
          </a:xfrm>
          <a:prstGeom prst="roundRect">
            <a:avLst>
              <a:gd name="adj" fmla="val 192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go(i){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 = Math.max(0, Math.min(n-1, i));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slides.forEach((s,k) =&gt;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s.classList.toggle('active', k===cur);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s.classList.toggle('past', k&lt;cur);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s.setAttribute('aria-hidden', k!==cur);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bar.style.width = (cur+1)/n*100 + '%';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history.replaceState(null,'','#'+(cur+1));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← → PageUp PageDown Espacio Home End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55448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Cada slide es una section absoluta; solo .active es visible (opacity + visibility)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Estado mínimo: el índice cur. go(i) actualiza clases, puntos, barra y hash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hash de la URL permite enlazar a una diapositiva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único .html: estilo y script inline, sin librerías ni build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Temas con variables CSS</a:t>
            </a:r>
            <a:endParaRPr lang="en-US" sz="3600" dirty="0"/>
          </a:p>
        </p:txBody>
      </p:sp>
      <p:sp>
        <p:nvSpPr>
          <p:cNvPr id="4" name="code box"/>
          <p:cNvSpPr/>
          <p:nvPr/>
        </p:nvSpPr>
        <p:spPr>
          <a:xfrm>
            <a:off x="548640" y="1463040"/>
            <a:ext cx="5943600" cy="3017520"/>
          </a:xfrm>
          <a:prstGeom prst="roundRect">
            <a:avLst>
              <a:gd name="adj" fmla="val 303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:root{ --bg:#f6f4ef; --accent:#3b5bdb;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(prefers-color-scheme: dark){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:root:not([data-theme="light"]){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--bg:#14161c; --accent:#8aa2ff;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:root[data-theme="dark"]{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--bg:#14161c; --accent:#8aa2ff;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5544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Por defecto sigue la preferencia del sistema (prefers-color-scheme)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botón Tema fija data-theme y anula la preferencia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Todo el CSS usa var(--token): cambiar tema no toca componentes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SVG heredan colores con var() en fill y stroke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09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Tokens: claro (arriba) y oscuro (abajo)</a:t>
            </a:r>
            <a:endParaRPr lang="en-US" sz="1400" dirty="0"/>
          </a:p>
        </p:txBody>
      </p:sp>
      <p:sp>
        <p:nvSpPr>
          <p:cNvPr id="8" name="token swatch"/>
          <p:cNvSpPr/>
          <p:nvPr/>
        </p:nvSpPr>
        <p:spPr>
          <a:xfrm>
            <a:off x="548640" y="50749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6F4EF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074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--bg</a:t>
            </a:r>
            <a:endParaRPr lang="en-US" sz="1200" dirty="0"/>
          </a:p>
        </p:txBody>
      </p:sp>
      <p:sp>
        <p:nvSpPr>
          <p:cNvPr id="10" name="token swatch"/>
          <p:cNvSpPr/>
          <p:nvPr/>
        </p:nvSpPr>
        <p:spPr>
          <a:xfrm>
            <a:off x="1737360" y="50749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37360" y="5074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--surface</a:t>
            </a:r>
            <a:endParaRPr lang="en-US" sz="1200" dirty="0"/>
          </a:p>
        </p:txBody>
      </p:sp>
      <p:sp>
        <p:nvSpPr>
          <p:cNvPr id="12" name="token swatch"/>
          <p:cNvSpPr/>
          <p:nvPr/>
        </p:nvSpPr>
        <p:spPr>
          <a:xfrm>
            <a:off x="2926080" y="50749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1F2430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26080" y="5074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--ink</a:t>
            </a:r>
            <a:endParaRPr lang="en-US" sz="1200" dirty="0"/>
          </a:p>
        </p:txBody>
      </p:sp>
      <p:sp>
        <p:nvSpPr>
          <p:cNvPr id="14" name="token swatch"/>
          <p:cNvSpPr/>
          <p:nvPr/>
        </p:nvSpPr>
        <p:spPr>
          <a:xfrm>
            <a:off x="4114800" y="50749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3B5BDB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5074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--accent</a:t>
            </a:r>
            <a:endParaRPr lang="en-US" sz="1200" dirty="0"/>
          </a:p>
        </p:txBody>
      </p:sp>
      <p:sp>
        <p:nvSpPr>
          <p:cNvPr id="16" name="token swatch"/>
          <p:cNvSpPr/>
          <p:nvPr/>
        </p:nvSpPr>
        <p:spPr>
          <a:xfrm>
            <a:off x="5303520" y="50749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2B8A3E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03520" y="5074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--ok</a:t>
            </a:r>
            <a:endParaRPr lang="en-US" sz="1200" dirty="0"/>
          </a:p>
        </p:txBody>
      </p:sp>
      <p:sp>
        <p:nvSpPr>
          <p:cNvPr id="18" name="token swatch"/>
          <p:cNvSpPr/>
          <p:nvPr/>
        </p:nvSpPr>
        <p:spPr>
          <a:xfrm>
            <a:off x="548640" y="57150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5715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--bg</a:t>
            </a:r>
            <a:endParaRPr lang="en-US" sz="1200" dirty="0"/>
          </a:p>
        </p:txBody>
      </p:sp>
      <p:sp>
        <p:nvSpPr>
          <p:cNvPr id="20" name="token swatch"/>
          <p:cNvSpPr/>
          <p:nvPr/>
        </p:nvSpPr>
        <p:spPr>
          <a:xfrm>
            <a:off x="1737360" y="57150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1D2029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737360" y="5715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--surface</a:t>
            </a:r>
            <a:endParaRPr lang="en-US" sz="1200" dirty="0"/>
          </a:p>
        </p:txBody>
      </p:sp>
      <p:sp>
        <p:nvSpPr>
          <p:cNvPr id="22" name="token swatch"/>
          <p:cNvSpPr/>
          <p:nvPr/>
        </p:nvSpPr>
        <p:spPr>
          <a:xfrm>
            <a:off x="2926080" y="57150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CEEF4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26080" y="5715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--ink</a:t>
            </a:r>
            <a:endParaRPr lang="en-US" sz="1200" dirty="0"/>
          </a:p>
        </p:txBody>
      </p:sp>
      <p:sp>
        <p:nvSpPr>
          <p:cNvPr id="24" name="token swatch"/>
          <p:cNvSpPr/>
          <p:nvPr/>
        </p:nvSpPr>
        <p:spPr>
          <a:xfrm>
            <a:off x="4114800" y="57150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8AA2FF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114800" y="5715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--accent</a:t>
            </a:r>
            <a:endParaRPr lang="en-US" sz="1200" dirty="0"/>
          </a:p>
        </p:txBody>
      </p:sp>
      <p:sp>
        <p:nvSpPr>
          <p:cNvPr id="26" name="token swatch"/>
          <p:cNvSpPr/>
          <p:nvPr/>
        </p:nvSpPr>
        <p:spPr>
          <a:xfrm>
            <a:off x="5303520" y="57150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6FCF86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03520" y="5715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--ok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Accesibilidad e interactividad</a:t>
            </a:r>
            <a:endParaRPr lang="en-US" sz="3600" dirty="0"/>
          </a:p>
        </p:txBody>
      </p:sp>
      <p:sp>
        <p:nvSpPr>
          <p:cNvPr id="4" name="card Teclado"/>
          <p:cNvSpPr/>
          <p:nvPr/>
        </p:nvSpPr>
        <p:spPr>
          <a:xfrm>
            <a:off x="548640" y="1463040"/>
            <a:ext cx="3566160" cy="2286000"/>
          </a:xfrm>
          <a:prstGeom prst="roundRect">
            <a:avLst>
              <a:gd name="adj" fmla="val 4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Teclado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Todas las acciones tienen equivalente: flechas, Espacio, Inicio/Fin, Enter en tablas y SVG.</a:t>
            </a:r>
            <a:endParaRPr lang="en-US" sz="1500" dirty="0"/>
          </a:p>
        </p:txBody>
      </p:sp>
      <p:sp>
        <p:nvSpPr>
          <p:cNvPr id="7" name="card ARIA"/>
          <p:cNvSpPr/>
          <p:nvPr/>
        </p:nvSpPr>
        <p:spPr>
          <a:xfrm>
            <a:off x="4297680" y="1463040"/>
            <a:ext cx="3566160" cy="2286000"/>
          </a:xfrm>
          <a:prstGeom prst="roundRect">
            <a:avLst>
              <a:gd name="adj" fmla="val 4000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ARIA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aria-live en detalles, aria-pressed en toggles, aria-hidden en slides inactivas y role=img en SVG.</a:t>
            </a:r>
            <a:endParaRPr lang="en-US" sz="1500" dirty="0"/>
          </a:p>
        </p:txBody>
      </p:sp>
      <p:sp>
        <p:nvSpPr>
          <p:cNvPr id="10" name="card Foco y movimiento"/>
          <p:cNvSpPr/>
          <p:nvPr/>
        </p:nvSpPr>
        <p:spPr>
          <a:xfrm>
            <a:off x="8046720" y="1463040"/>
            <a:ext cx="3566160" cy="2286000"/>
          </a:xfrm>
          <a:prstGeom prst="roundRect">
            <a:avLst>
              <a:gd name="adj" fmla="val 4000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Foco y movimiento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:focus-visible con contorno de 3 px y prefers-reduced-motion que anula transiciones.</a:t>
            </a:r>
            <a:endParaRPr lang="en-US" sz="1500" dirty="0"/>
          </a:p>
        </p:txBody>
      </p:sp>
      <p:sp>
        <p:nvSpPr>
          <p:cNvPr id="13" name="card SVG inline"/>
          <p:cNvSpPr/>
          <p:nvPr/>
        </p:nvSpPr>
        <p:spPr>
          <a:xfrm>
            <a:off x="548640" y="3931920"/>
            <a:ext cx="3566160" cy="2286000"/>
          </a:xfrm>
          <a:prstGeom prst="roundRect">
            <a:avLst>
              <a:gd name="adj" fmla="val 4000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SVG inline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48056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Diagramas con flechas via marker y colores por var(); el ciclo se genera desde un array.</a:t>
            </a:r>
            <a:endParaRPr lang="en-US" sz="1500" dirty="0"/>
          </a:p>
        </p:txBody>
      </p:sp>
      <p:sp>
        <p:nvSpPr>
          <p:cNvPr id="16" name="card Componentes"/>
          <p:cNvSpPr/>
          <p:nvPr/>
        </p:nvSpPr>
        <p:spPr>
          <a:xfrm>
            <a:off x="4297680" y="3931920"/>
            <a:ext cx="3566160" cy="2286000"/>
          </a:xfrm>
          <a:prstGeom prst="roundRect">
            <a:avLst>
              <a:gd name="adj" fmla="val 4000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805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Componentes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448056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Alternativas, requisitos y criterios son botones o filas que actualizan un panel de detalle.</a:t>
            </a:r>
            <a:endParaRPr lang="en-US" sz="1500" dirty="0"/>
          </a:p>
        </p:txBody>
      </p:sp>
      <p:sp>
        <p:nvSpPr>
          <p:cNvPr id="19" name="card Visualizaciones"/>
          <p:cNvSpPr/>
          <p:nvPr/>
        </p:nvSpPr>
        <p:spPr>
          <a:xfrm>
            <a:off x="8046720" y="3931920"/>
            <a:ext cx="3566160" cy="2286000"/>
          </a:xfrm>
          <a:prstGeom prst="roundRect">
            <a:avLst>
              <a:gd name="adj" fmla="val 4000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Visualizaciones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48056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Mini tabla periódica con tres modos y barras que se animan al activar la diapositiva.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Balance y siguiente paso</a:t>
            </a:r>
            <a:endParaRPr lang="en-US" sz="3600" dirty="0"/>
          </a:p>
        </p:txBody>
      </p:sp>
      <p:sp>
        <p:nvSpPr>
          <p:cNvPr id="4" name="balance card"/>
          <p:cNvSpPr/>
          <p:nvPr/>
        </p:nvSpPr>
        <p:spPr>
          <a:xfrm>
            <a:off x="548640" y="1463040"/>
            <a:ext cx="544068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Conseguido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118 elementos, búsqueda, panel y f-block separado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Cero dependencias; funciona por file://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Trazabilidad: tarea → requisito → evidencia</a:t>
            </a:r>
            <a:endParaRPr lang="en-US" sz="1600" dirty="0"/>
          </a:p>
        </p:txBody>
      </p:sp>
      <p:sp>
        <p:nvSpPr>
          <p:cNvPr id="7" name="balance card"/>
          <p:cNvSpPr/>
          <p:nvPr/>
        </p:nvSpPr>
        <p:spPr>
          <a:xfrm>
            <a:off x="6172200" y="1463040"/>
            <a:ext cx="544068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abierta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2860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Spec con 14 en lugar de 15 y nombre app.js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Sin tests automatizados ni verificación en Safari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Release y cierre sin confirmar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Siguiente acción: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corregir la spec, ejecutar /opsx:sync y archivar el change.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iodic SDD">
  <a:themeElements>
    <a:clrScheme name="Periodic SDD">
      <a:dk1>
        <a:srgbClr val="1F2430"/>
      </a:dk1>
      <a:lt1>
        <a:srgbClr val="FFFFFF"/>
      </a:lt1>
      <a:dk2>
        <a:srgbClr val="5D6577"/>
      </a:dk2>
      <a:lt2>
        <a:srgbClr val="F1F4FA"/>
      </a:lt2>
      <a:accent1>
        <a:srgbClr val="3B5BDB"/>
      </a:accent1>
      <a:accent2>
        <a:srgbClr val="2B8A3E"/>
      </a:accent2>
      <a:accent3>
        <a:srgbClr val="B36B00"/>
      </a:accent3>
      <a:accent4>
        <a:srgbClr val="C92A2A"/>
      </a:accent4>
      <a:accent5>
        <a:srgbClr val="7048E8"/>
      </a:accent5>
      <a:accent6>
        <a:srgbClr val="0C8599"/>
      </a:accent6>
      <a:hlink>
        <a:srgbClr val="3B5BDB"/>
      </a:hlink>
      <a:folHlink>
        <a:srgbClr val="7048E8"/>
      </a:folHlink>
    </a:clrScheme>
    <a:fontScheme name="Periodic SD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Periodic Table · SDD en 9 pasos</dc:title>
  <dc:subject>PptxGenJS Presentation</dc:subject>
  <dc:creator>vjmadrid</dc:creator>
  <cp:lastModifiedBy>vjmadrid</cp:lastModifiedBy>
  <cp:revision>1</cp:revision>
  <dcterms:created xsi:type="dcterms:W3CDTF">2026-10-23T10:41:59Z</dcterms:created>
  <dcterms:modified xsi:type="dcterms:W3CDTF">2026-10-23T10:41:59Z</dcterms:modified>
</cp:coreProperties>
</file>